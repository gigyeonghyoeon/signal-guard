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1" r:id="rId6"/>
    <p:sldId id="264" r:id="rId7"/>
    <p:sldId id="265" r:id="rId8"/>
    <p:sldId id="267" r:id="rId9"/>
    <p:sldId id="268" r:id="rId10"/>
    <p:sldId id="269" r:id="rId11"/>
    <p:sldId id="271" r:id="rId12"/>
    <p:sldId id="272" r:id="rId13"/>
    <p:sldId id="273" r:id="rId14"/>
    <p:sldId id="275" r:id="rId15"/>
    <p:sldId id="276" r:id="rId16"/>
    <p:sldId id="27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58521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786384"/>
            <a:ext cx="146304" cy="14630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47472"/>
            <a:ext cx="5486400" cy="6400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9BB4"/>
                </a:solidFill>
                <a:latin typeface="맑은 고딕"/>
                <a:ea typeface="맑은 고딕"/>
              </a:rPr>
              <a:t>SIGNAL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498079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맑은 고딕"/>
                <a:ea typeface="맑은 고딕"/>
              </a:rPr>
              <a:t>WEEK 4  ·  WEEKLY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7680960" cy="146304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lvl="0">
              <a:defRPr/>
            </a:pPr>
            <a:r>
              <a:rPr lang="ko-KR" altLang="en-US" sz="4400" b="1" dirty="0">
                <a:solidFill>
                  <a:srgbClr val="FFFFFF"/>
                </a:solidFill>
                <a:latin typeface="맑은 고딕"/>
              </a:rPr>
              <a:t>실시간 교통신호 상태정보</a:t>
            </a:r>
          </a:p>
          <a:p>
            <a:pPr lvl="0">
              <a:defRPr/>
            </a:pPr>
            <a:r>
              <a:rPr lang="ko-KR" altLang="en-US" sz="4400" b="1" dirty="0" err="1">
                <a:solidFill>
                  <a:srgbClr val="FFFFFF"/>
                </a:solidFill>
                <a:latin typeface="맑은 고딕"/>
              </a:rPr>
              <a:t>오류검지</a:t>
            </a:r>
            <a:r>
              <a:rPr lang="ko-KR" altLang="en-US" sz="4400" b="1" dirty="0">
                <a:solidFill>
                  <a:srgbClr val="FFFFFF"/>
                </a:solidFill>
                <a:latin typeface="맑은 고딕"/>
              </a:rPr>
              <a:t>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7498079" cy="146304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조찬희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  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기경현  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300" b="0" dirty="0">
                <a:solidFill>
                  <a:srgbClr val="8B9BB4"/>
                </a:solidFill>
                <a:latin typeface="맑은 고딕"/>
                <a:ea typeface="맑은 고딕"/>
              </a:rPr>
              <a:t>웹 프레임워크</a:t>
            </a:r>
            <a:r>
              <a:rPr lang="en-US" altLang="ko-KR" sz="1300" b="0" dirty="0">
                <a:solidFill>
                  <a:srgbClr val="8B9BB4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조규철</a:t>
            </a:r>
            <a:r>
              <a:rPr lang="ko-KR" altLang="en-US" sz="1300" b="0" dirty="0">
                <a:solidFill>
                  <a:srgbClr val="8B9BB4"/>
                </a:solidFill>
                <a:latin typeface="맑은 고딕"/>
                <a:ea typeface="맑은 고딕"/>
              </a:rPr>
              <a:t> 교수님</a:t>
            </a:r>
            <a:r>
              <a:rPr lang="en-US" altLang="ko-KR" sz="1300" b="0" dirty="0">
                <a:solidFill>
                  <a:srgbClr val="8B9BB4"/>
                </a:solidFill>
                <a:latin typeface="맑은 고딕"/>
                <a:ea typeface="맑은 고딕"/>
              </a:rPr>
              <a:t>)</a:t>
            </a:r>
            <a:endParaRPr sz="1300" b="0" dirty="0">
              <a:solidFill>
                <a:srgbClr val="8B9BB4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59E0B"/>
                </a:solidFill>
                <a:latin typeface="맑은 고딕"/>
                <a:ea typeface="맑은 고딕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발표</a:t>
            </a:r>
            <a:r>
              <a:rPr sz="28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순서</a:t>
            </a:r>
            <a:endParaRPr sz="2800" b="1" dirty="0">
              <a:solidFill>
                <a:srgbClr val="EEF3FB"/>
              </a:solidFill>
              <a:latin typeface="맑은 고딕"/>
              <a:ea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05840" cy="6949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389888"/>
            <a:ext cx="9326880" cy="6949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EEF3FB"/>
                </a:solidFill>
                <a:latin typeface="맑은 고딕"/>
                <a:ea typeface="맑은 고딕"/>
              </a:rPr>
              <a:t>프로젝트</a:t>
            </a:r>
            <a:r>
              <a:rPr sz="20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2000" b="1" dirty="0" err="1">
                <a:solidFill>
                  <a:srgbClr val="EEF3FB"/>
                </a:solidFill>
                <a:latin typeface="맑은 고딕"/>
                <a:ea typeface="맑은 고딕"/>
              </a:rPr>
              <a:t>위치</a:t>
            </a:r>
            <a:endParaRPr sz="20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15주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일정에서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지금은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설계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4주차입니다.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24328"/>
            <a:ext cx="1005840" cy="6949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24328"/>
            <a:ext cx="9326880" cy="6949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F3FB"/>
                </a:solidFill>
                <a:latin typeface="맑은 고딕"/>
                <a:ea typeface="맑은 고딕"/>
              </a:rPr>
              <a:t>분석 산출물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정의서·대응표·요구사항·유스케이스·백로그를 문서별로 설명합니다.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858768"/>
            <a:ext cx="1005840" cy="6949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858768"/>
            <a:ext cx="9326880" cy="6949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F3FB"/>
                </a:solidFill>
                <a:latin typeface="맑은 고딕"/>
                <a:ea typeface="맑은 고딕"/>
              </a:rPr>
              <a:t>설계 산출물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아키텍처·화면 IA·ERD·API 명세 0.1을 보고합니다.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920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093208"/>
            <a:ext cx="1005840" cy="6949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093208"/>
            <a:ext cx="9326880" cy="6949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F3FB"/>
                </a:solidFill>
                <a:latin typeface="맑은 고딕"/>
                <a:ea typeface="맑은 고딕"/>
              </a:rPr>
              <a:t>다음 할 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5주차 규칙 명세·프로토타입·미결 확정과 M2 게이트입니다.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목차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ANALYSIS  ·  요구사항정의서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EF3FB"/>
                </a:solidFill>
                <a:latin typeface="맑은 고딕"/>
                <a:ea typeface="맑은 고딕"/>
              </a:rPr>
              <a:t>요구사항정의서 — 무엇을, 검증 가능하게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755648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원자성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한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ID에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검증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가능한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요구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하나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4" y="1755648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명확성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역할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조건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초·건수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같은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숫자를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적는다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38744" y="1755648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검증</a:t>
            </a: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가능성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모든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요구에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수용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기준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.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통과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/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실패를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가릴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수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있어야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한다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6324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3172968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추적성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RFP ID 또는 팀 확장(EXT)과 연결한다.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06324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4" y="3172968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What vs How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무엇을만 적고, 스택은 설계로.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063240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3172968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범위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MVP 포함과 제외를 명시해 오해를 막는다.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11155680" cy="169164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4572000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10789920" cy="146304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dirty="0" err="1">
                <a:solidFill>
                  <a:srgbClr val="F59E0B"/>
                </a:solidFill>
                <a:latin typeface="맑은 고딕"/>
                <a:ea typeface="맑은 고딕"/>
              </a:rPr>
              <a:t>규모</a:t>
            </a:r>
            <a:endParaRPr sz="1400" b="1" dirty="0">
              <a:solidFill>
                <a:srgbClr val="F59E0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기능</a:t>
            </a:r>
            <a:r>
              <a:rPr sz="15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요구</a:t>
            </a:r>
            <a:r>
              <a:rPr sz="1500" b="0" dirty="0">
                <a:solidFill>
                  <a:srgbClr val="EEF3FB"/>
                </a:solidFill>
                <a:latin typeface="맑은 고딕"/>
                <a:ea typeface="맑은 고딕"/>
              </a:rPr>
              <a:t> FR 약 40개  ·  </a:t>
            </a: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비기능</a:t>
            </a:r>
            <a:r>
              <a:rPr sz="1500" b="0" dirty="0">
                <a:solidFill>
                  <a:srgbClr val="EEF3FB"/>
                </a:solidFill>
                <a:latin typeface="맑은 고딕"/>
                <a:ea typeface="맑은 고딕"/>
              </a:rPr>
              <a:t> NFR 11개  ·  </a:t>
            </a: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검증</a:t>
            </a:r>
            <a:r>
              <a:rPr sz="15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규칙</a:t>
            </a:r>
            <a:r>
              <a:rPr sz="1500" b="0" dirty="0">
                <a:solidFill>
                  <a:srgbClr val="EEF3FB"/>
                </a:solidFill>
                <a:latin typeface="맑은 고딕"/>
                <a:ea typeface="맑은 고딕"/>
              </a:rPr>
              <a:t> R01–R12  ·  </a:t>
            </a: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우선순위</a:t>
            </a:r>
            <a:r>
              <a:rPr sz="15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필수</a:t>
            </a:r>
            <a:r>
              <a:rPr sz="1500" b="0" dirty="0">
                <a:solidFill>
                  <a:srgbClr val="EEF3FB"/>
                </a:solidFill>
                <a:latin typeface="맑은 고딕"/>
                <a:ea typeface="맑은 고딕"/>
              </a:rPr>
              <a:t>/</a:t>
            </a: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중요</a:t>
            </a:r>
            <a:r>
              <a:rPr sz="1500" b="0" dirty="0">
                <a:solidFill>
                  <a:srgbClr val="EEF3FB"/>
                </a:solidFill>
                <a:latin typeface="맑은 고딕"/>
                <a:ea typeface="맑은 고딕"/>
              </a:rPr>
              <a:t>/</a:t>
            </a:r>
            <a:r>
              <a:rPr sz="1500" b="0" dirty="0" err="1">
                <a:solidFill>
                  <a:srgbClr val="EEF3FB"/>
                </a:solidFill>
                <a:latin typeface="맑은 고딕"/>
                <a:ea typeface="맑은 고딕"/>
              </a:rPr>
              <a:t>선택</a:t>
            </a:r>
            <a:endParaRPr sz="1500" b="0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필수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요구는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12–13주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테스트에서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반드시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통과해야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MVP로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인정합니다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7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ANALYSIS  ·  요구사항정의서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EF3FB"/>
                </a:solidFill>
                <a:latin typeface="맑은 고딕"/>
                <a:ea typeface="맑은 고딕"/>
              </a:rPr>
              <a:t>시스템 경계는 검지 · 관제 · 통제입니다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639312" cy="30632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325880"/>
            <a:ext cx="3310128" cy="2788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22C55E"/>
                </a:solidFill>
                <a:latin typeface="맑은 고딕"/>
                <a:ea typeface="맑은 고딕"/>
              </a:rPr>
              <a:t>검지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같은 시각·교차로·방향에서 대조한다.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누락·급변·순서 위반을 판정한다.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원본을 바꾸지 않는다.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39312" cy="30632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62272" y="1325880"/>
            <a:ext cx="3310128" cy="2788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5B8DEF"/>
                </a:solidFill>
                <a:latin typeface="맑은 고딕"/>
                <a:ea typeface="맑은 고딕"/>
              </a:rPr>
              <a:t>관제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대시보드에서 등급·지연·이슈를 본다.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이슈를 확인하고 코멘트한다.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값을 고치는 권한은 없다.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188720"/>
            <a:ext cx="3639312" cy="30632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7032" y="1325880"/>
            <a:ext cx="3310128" cy="2788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59E0B"/>
                </a:solidFill>
                <a:latin typeface="맑은 고딕"/>
                <a:ea typeface="맑은 고딕"/>
              </a:rPr>
              <a:t>통제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찾은 오류를 닫는 단계다.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정보 / 계획 / 현장 요청 세 갈래.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·  현장 요청은 기록만. 신호기 명령 없음.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34840"/>
            <a:ext cx="11155680" cy="1874519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4544568"/>
            <a:ext cx="10863072" cy="1673351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원본 수신은 불변입니다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자동보정과 관리자 수정은 제공 계층만 바꿉니다. 수신 JSON과 센티초 값은 그대로 두고, 전후는 로그로 남깁니다.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해결 가능(중복, 동의어, 짧은 공백)은 시스템이 보정합니다. 해결 불가(충돌 녹색, 지속 불일치)는 이슈로 올려 사람이 닫습니다.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8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ANALYSIS  ·  제안요청서 요구사항 대응표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EEF3FB"/>
                </a:solidFill>
                <a:latin typeface="맑은 고딕"/>
                <a:ea typeface="맑은 고딕"/>
              </a:rPr>
              <a:t>RFP </a:t>
            </a:r>
            <a:r>
              <a:rPr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대응표</a:t>
            </a:r>
            <a:r>
              <a:rPr sz="2800" b="1" dirty="0">
                <a:solidFill>
                  <a:srgbClr val="EEF3FB"/>
                </a:solidFill>
                <a:latin typeface="맑은 고딕"/>
                <a:ea typeface="맑은 고딕"/>
              </a:rPr>
              <a:t> —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 7건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소프트웨어로 충족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테스트로 통과/실패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부분 구현  17건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규모·환경을 수업으로 축소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인천 표본, 공개 API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문서 대체  15건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발주 행정·센터 전용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아님</a:t>
                      </a:r>
                      <a:endParaRPr sz="1300" b="0" dirty="0">
                        <a:solidFill>
                          <a:srgbClr val="EEF3F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691640"/>
            <a:ext cx="4114800" cy="32004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0104" y="1801368"/>
            <a:ext cx="3822192" cy="29992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소프트웨어로</a:t>
            </a: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다루는</a:t>
            </a: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범위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구현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+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부분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구현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= 24건.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기능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5건은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구현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또는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부분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구현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바꾸지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않음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: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원본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불변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검지→관제→통제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실제어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제외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바꾸는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것: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전국·센터망을</a:t>
            </a:r>
            <a:endParaRPr sz="1400" b="0" dirty="0">
              <a:solidFill>
                <a:srgbClr val="8B9BB4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인천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표본·Open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API로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2920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5138928"/>
            <a:ext cx="10863072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왜 이 </a:t>
            </a: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표가</a:t>
            </a: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필요한가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‘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구현할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것 /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축소할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것 /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문서만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남길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것’을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같은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기준으로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8B9BB4"/>
                </a:solidFill>
                <a:latin typeface="맑은 고딕"/>
                <a:ea typeface="맑은 고딕"/>
              </a:rPr>
              <a:t>이해 할 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수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있습니다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.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요구사항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ID와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산출물이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어긋나면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이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표부터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고칩니다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6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ANALYSIS  ·  유스케이스 · 사용자 스토리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EF3FB"/>
                </a:solidFill>
                <a:latin typeface="맑은 고딕"/>
                <a:ea typeface="맑은 고딕"/>
              </a:rPr>
              <a:t>유스케이스 — 누가, 어떤 흐름으로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‘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누가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어떤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목표를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어떤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순서로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달성하는지’입니다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UC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주 액터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UC01–05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시스템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수집·계획 적재·검지·자동 보정·이슈 등록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UC06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운영자·관리자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대시보드에서 상태와 오류를 본다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UC07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정보·계획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통제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또는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현장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요청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후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재검증</a:t>
                      </a:r>
                      <a:endParaRPr sz="1300" b="0" dirty="0">
                        <a:solidFill>
                          <a:srgbClr val="EEF3F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UC08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운영자·관리자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통계를 조회하고 CSV로 보낸다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UC09–10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계정·권한, 수집 대상·주기·임계값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UC11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시스템·사람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통제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이력을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남기고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원본과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제공값을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나눠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본다</a:t>
                      </a:r>
                      <a:endParaRPr sz="1300" b="0" dirty="0">
                        <a:solidFill>
                          <a:srgbClr val="EEF3F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212080"/>
            <a:ext cx="11155680" cy="10972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EF3FB"/>
                </a:solidFill>
                <a:latin typeface="맑은 고딕"/>
                <a:ea typeface="맑은 고딕"/>
              </a:rPr>
              <a:t>사용자 스토리 33건 (필수 29 · 중요 2 · 선택 2). 수용 기준이 테스트 케이스의 정본입니다.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운영자는 조회·코멘트만, 관리자만 통제합니다. 모든 사람 유스케이스는 로그인이 선행입니다.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9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ANALYSIS  ·  제품 백로그 · WBS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EF3FB"/>
                </a:solidFill>
                <a:latin typeface="맑은 고딕"/>
                <a:ea typeface="맑은 고딕"/>
              </a:rPr>
              <a:t>백로그·WBS — 언제, 누가, 얼마나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이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문서는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배치·용량·작업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패키지만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고정</a:t>
            </a:r>
            <a:endParaRPr sz="1500" b="0" dirty="0">
              <a:solidFill>
                <a:srgbClr val="8B9BB4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709928"/>
            <a:ext cx="5193792" cy="4507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ko-KR" altLang="en-US" sz="1400" b="0" dirty="0">
                <a:solidFill>
                  <a:srgbClr val="8B9BB4"/>
                </a:solidFill>
                <a:latin typeface="맑은 고딕"/>
                <a:ea typeface="맑은 고딕"/>
              </a:rPr>
              <a:t>여기에 </a:t>
            </a:r>
            <a:r>
              <a:rPr lang="ko-KR" altLang="en-US"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백로그</a:t>
            </a:r>
            <a:endParaRPr lang="en-US" altLang="ko-KR" sz="1400" b="0" dirty="0">
              <a:solidFill>
                <a:srgbClr val="8B9BB4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8504" y="1709928"/>
            <a:ext cx="5193792" cy="4507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ko-KR" altLang="en-US" sz="1400" b="0" dirty="0">
                <a:solidFill>
                  <a:srgbClr val="8B9BB4"/>
                </a:solidFill>
                <a:latin typeface="맑은 고딕"/>
                <a:ea typeface="맑은 고딕"/>
              </a:rPr>
              <a:t>여기에 </a:t>
            </a:r>
            <a:r>
              <a:rPr lang="en-US" altLang="ko-KR"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wbs</a:t>
            </a:r>
            <a:endParaRPr lang="en-US" altLang="ko-KR" sz="1400" b="0" dirty="0">
              <a:solidFill>
                <a:srgbClr val="8B9BB4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10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DESIGN  · 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EEF3FB"/>
                </a:solidFill>
                <a:latin typeface="맑은 고딕"/>
                <a:ea typeface="맑은 고딕"/>
              </a:rPr>
              <a:t>4</a:t>
            </a:r>
            <a:r>
              <a:rPr lang="ko-KR" altLang="en-US" sz="2800" b="1" dirty="0">
                <a:solidFill>
                  <a:srgbClr val="EEF3FB"/>
                </a:solidFill>
                <a:latin typeface="맑은 고딕"/>
                <a:ea typeface="맑은 고딕"/>
              </a:rPr>
              <a:t>주차</a:t>
            </a:r>
            <a:r>
              <a:rPr sz="28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작성한</a:t>
            </a:r>
            <a:r>
              <a:rPr sz="28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산출물</a:t>
            </a:r>
            <a:endParaRPr sz="2800" b="1" dirty="0">
              <a:solidFill>
                <a:srgbClr val="EEF3FB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분석이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‘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무엇을’이면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설계는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‘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어떻게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나눌지’입니다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.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이번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주는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논리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구조와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화면·데이터·API의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0.1을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고정했습니다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산출물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WBS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이번에 고정한 내용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주 담당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시스템 아키텍처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WBS-3.1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5계층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구성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컴포넌트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원본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제공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분리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용량</a:t>
                      </a:r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산정식</a:t>
                      </a:r>
                      <a:endParaRPr sz="1300" b="0" dirty="0">
                        <a:solidFill>
                          <a:srgbClr val="EEF3F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공동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화면 IA · 와이어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WBS-3.3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필수 6화면, 메뉴·권한, 이슈 상세의 통제 패널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조찬희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논리 ERD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WBS-3.4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23개 엔터티, 원본 append-only, 명명·무결성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기경현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REST API 명세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WBS-3.5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/api/v1 경로, RBAC, 원본 수정 API 없음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기경현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07492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5184648"/>
            <a:ext cx="10863072" cy="103327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아직</a:t>
            </a: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숫자로</a:t>
            </a: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닫지</a:t>
            </a: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않은</a:t>
            </a: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 것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프론트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/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백엔드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스택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표본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교차로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수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N과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주기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T, UTIC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대체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웹소켓·지도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1차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여부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규칙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임계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기본값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12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DESIGN  · 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시스템은</a:t>
            </a:r>
            <a:r>
              <a:rPr sz="2800" b="1" dirty="0">
                <a:solidFill>
                  <a:srgbClr val="EEF3FB"/>
                </a:solidFill>
                <a:latin typeface="맑은 고딕"/>
                <a:ea typeface="맑은 고딕"/>
              </a:rPr>
              <a:t> 5계층으로 </a:t>
            </a:r>
            <a:r>
              <a:rPr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나눕니다</a:t>
            </a:r>
            <a:endParaRPr sz="2800" b="1" dirty="0">
              <a:solidFill>
                <a:srgbClr val="EEF3FB"/>
              </a:solidFill>
              <a:latin typeface="맑은 고딕"/>
              <a:ea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640080" cy="5303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61872"/>
            <a:ext cx="9875520" cy="6400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 err="1">
                <a:solidFill>
                  <a:srgbClr val="EEF3FB"/>
                </a:solidFill>
                <a:latin typeface="맑은 고딕"/>
                <a:ea typeface="맑은 고딕"/>
              </a:rPr>
              <a:t>사용자</a:t>
            </a:r>
            <a:r>
              <a:rPr sz="1600" b="1" dirty="0">
                <a:solidFill>
                  <a:srgbClr val="EEF3FB"/>
                </a:solidFill>
                <a:latin typeface="맑은 고딕"/>
                <a:ea typeface="맑은 고딕"/>
              </a:rPr>
              <a:t> / </a:t>
            </a:r>
            <a:r>
              <a:rPr sz="1600" b="1" dirty="0" err="1">
                <a:solidFill>
                  <a:srgbClr val="EEF3FB"/>
                </a:solidFill>
                <a:latin typeface="맑은 고딕"/>
                <a:ea typeface="맑은 고딕"/>
              </a:rPr>
              <a:t>클라이언트</a:t>
            </a:r>
            <a:endParaRPr sz="16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운영자·관리자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브라우저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.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외부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API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키를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두지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않고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REST만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호출합니다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640080" cy="5303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9424"/>
            <a:ext cx="9875520" cy="6400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EF3FB"/>
                </a:solidFill>
                <a:latin typeface="맑은 고딕"/>
                <a:ea typeface="맑은 고딕"/>
              </a:rPr>
              <a:t>웹 / 애플리케이션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인증, 수집·정규화, 검지 엔진, 이슈·통제 API. 요청 경로와 배치 경로를 분리합니다.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90672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273552"/>
            <a:ext cx="640080" cy="5303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36976"/>
            <a:ext cx="9875520" cy="6400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 err="1">
                <a:solidFill>
                  <a:srgbClr val="EEF3FB"/>
                </a:solidFill>
                <a:latin typeface="맑은 고딕"/>
                <a:ea typeface="맑은 고딕"/>
              </a:rPr>
              <a:t>데이터</a:t>
            </a:r>
            <a:r>
              <a:rPr sz="1600" b="1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EEF3FB"/>
                </a:solidFill>
                <a:latin typeface="맑은 고딕"/>
                <a:ea typeface="맑은 고딕"/>
              </a:rPr>
              <a:t>저장</a:t>
            </a:r>
            <a:endParaRPr sz="16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원본·제공·계획·이슈·이력을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같은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PostgreSQL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안의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다른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테이블로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둡니다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78224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261104"/>
            <a:ext cx="640080" cy="5303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24528"/>
            <a:ext cx="9875520" cy="6400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EF3FB"/>
                </a:solidFill>
                <a:latin typeface="맑은 고딕"/>
                <a:ea typeface="맑은 고딕"/>
              </a:rPr>
              <a:t>외부 연계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실시간 신호 API, UTIC(또는 대체). 현장 신호제어기는 계층에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65776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5248656"/>
            <a:ext cx="640080" cy="5303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12080"/>
            <a:ext cx="9875520" cy="6400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EF3FB"/>
                </a:solidFill>
                <a:latin typeface="맑은 고딕"/>
                <a:ea typeface="맑은 고딕"/>
              </a:rPr>
              <a:t>오류 검지 처리 흐름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수신 → 정규화 → 원본 저장 → 검증 → 자동보정 또는 이슈 → 제공.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13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DESIGN  · 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EF3FB"/>
                </a:solidFill>
                <a:latin typeface="맑은 고딕"/>
                <a:ea typeface="맑은 고딕"/>
              </a:rPr>
              <a:t>논리 구성도</a:t>
            </a:r>
          </a:p>
        </p:txBody>
      </p:sp>
      <p:pic>
        <p:nvPicPr>
          <p:cNvPr id="4" name="Picture 3" descr="시스템 아키텍처 구조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221" y="1024128"/>
            <a:ext cx="7703419" cy="50749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14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DESIGN  ·  화면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화면</a:t>
            </a:r>
            <a:r>
              <a:rPr lang="en-US" sz="2800" b="1" dirty="0" err="1">
                <a:solidFill>
                  <a:srgbClr val="EEF3FB"/>
                </a:solidFill>
                <a:latin typeface="맑은 고딕"/>
                <a:ea typeface="맑은 고딕"/>
              </a:rPr>
              <a:t>IA</a:t>
            </a:r>
            <a:endParaRPr sz="2800" b="1" dirty="0">
              <a:solidFill>
                <a:srgbClr val="EEF3FB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로그인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직후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운영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규모가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보이고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이상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교차로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→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상세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→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이슈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→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통제가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이어집니다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709928"/>
            <a:ext cx="3346704" cy="12161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대시보드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오류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수 ·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지연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·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자동보정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·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미처리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이슈</a:t>
            </a:r>
            <a:endParaRPr sz="1300" b="0" dirty="0">
              <a:solidFill>
                <a:srgbClr val="8B9BB4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97680" y="160020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4" y="1709928"/>
            <a:ext cx="3346704" cy="12161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EEF3FB"/>
                </a:solidFill>
                <a:latin typeface="맑은 고딕"/>
                <a:ea typeface="맑은 고딕"/>
              </a:rPr>
              <a:t>교</a:t>
            </a:r>
            <a:r>
              <a:rPr lang="ko-KR" altLang="en-US" sz="1500" b="1" dirty="0">
                <a:solidFill>
                  <a:srgbClr val="EEF3FB"/>
                </a:solidFill>
                <a:latin typeface="맑은 고딕"/>
                <a:ea typeface="맑은 고딕"/>
              </a:rPr>
              <a:t>차로 상세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ko-KR" altLang="en-US" sz="1300" dirty="0">
                <a:solidFill>
                  <a:srgbClr val="8B9BB4"/>
                </a:solidFill>
                <a:latin typeface="맑은 고딕"/>
                <a:ea typeface="맑은 고딕"/>
              </a:rPr>
              <a:t>현재 신호와 계획</a:t>
            </a:r>
            <a:r>
              <a:rPr lang="en-US" altLang="ko-KR"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b="0" dirty="0">
                <a:solidFill>
                  <a:srgbClr val="8B9BB4"/>
                </a:solidFill>
                <a:latin typeface="맑은 고딕"/>
                <a:ea typeface="맑은 고딕"/>
              </a:rPr>
              <a:t>원본과 제공을 나란히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0020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38744" y="1709928"/>
            <a:ext cx="3346704" cy="12161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오류·이슈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목록과 상세. 관리자 통제 패널은 여기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3264408"/>
            <a:ext cx="3346704" cy="12161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신호 계획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TOD·현시 조회. 관리자만 수정·재검증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15468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4" y="3264408"/>
            <a:ext cx="3346704" cy="121615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통계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유형·교차로·기간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집계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,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11155680" cy="1508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475488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10789920" cy="12801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dirty="0" err="1">
                <a:solidFill>
                  <a:srgbClr val="F59E0B"/>
                </a:solidFill>
                <a:latin typeface="맑은 고딕"/>
                <a:ea typeface="맑은 고딕"/>
              </a:rPr>
              <a:t>이번에</a:t>
            </a:r>
            <a:r>
              <a:rPr sz="1400" b="1" dirty="0">
                <a:solidFill>
                  <a:srgbClr val="F59E0B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F59E0B"/>
                </a:solidFill>
                <a:latin typeface="맑은 고딕"/>
                <a:ea typeface="맑은 고딕"/>
              </a:rPr>
              <a:t>닫은</a:t>
            </a:r>
            <a:r>
              <a:rPr sz="1400" b="1" dirty="0">
                <a:solidFill>
                  <a:srgbClr val="F59E0B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F59E0B"/>
                </a:solidFill>
                <a:latin typeface="맑은 고딕"/>
                <a:ea typeface="맑은 고딕"/>
              </a:rPr>
              <a:t>미결</a:t>
            </a:r>
            <a:r>
              <a:rPr sz="1400" b="1" dirty="0">
                <a:solidFill>
                  <a:srgbClr val="F59E0B"/>
                </a:solidFill>
                <a:latin typeface="맑은 고딕"/>
                <a:ea typeface="맑은 고딕"/>
              </a:rPr>
              <a:t> 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현장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통제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요청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UI는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이슈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상세의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통제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패널에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둡니다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.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통제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이력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화면은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조회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전용이며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여기서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요청을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새로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만들지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EEF3FB"/>
                </a:solidFill>
                <a:latin typeface="맑은 고딕"/>
                <a:ea typeface="맑은 고딕"/>
              </a:rPr>
              <a:t>않습니다</a:t>
            </a:r>
            <a:r>
              <a:rPr sz="1400" b="0" dirty="0">
                <a:solidFill>
                  <a:srgbClr val="EEF3FB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운영자에게는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통제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버튼을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그리지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않고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API도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관리자가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8B9BB4"/>
                </a:solidFill>
                <a:latin typeface="맑은 고딕"/>
                <a:ea typeface="맑은 고딕"/>
              </a:rPr>
              <a:t>아니면</a:t>
            </a:r>
            <a:r>
              <a:rPr sz="1400" b="0" dirty="0">
                <a:solidFill>
                  <a:srgbClr val="8B9BB4"/>
                </a:solidFill>
                <a:latin typeface="맑은 고딕"/>
                <a:ea typeface="맑은 고딕"/>
              </a:rPr>
              <a:t> 403입니다.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16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DESIGN  ·  논리 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EEF3FB"/>
                </a:solidFill>
                <a:latin typeface="맑은 고딕"/>
                <a:ea typeface="맑은 고딕"/>
              </a:rPr>
              <a:t>ERD</a:t>
            </a:r>
            <a:endParaRPr sz="2800" b="1" dirty="0">
              <a:solidFill>
                <a:srgbClr val="EEF3FB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592336"/>
            <a:ext cx="11155680" cy="4114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논리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맑은 고딕"/>
                <a:ea typeface="맑은 고딕"/>
              </a:rPr>
              <a:t>엔터티</a:t>
            </a:r>
            <a:r>
              <a:rPr sz="1500" b="0" dirty="0">
                <a:solidFill>
                  <a:srgbClr val="8B9BB4"/>
                </a:solidFill>
                <a:latin typeface="맑은 고딕"/>
                <a:ea typeface="맑은 고딕"/>
              </a:rPr>
              <a:t> 23개.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13544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2223272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마스터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교차로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수집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대상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UTIC↔실시간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ID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매핑</a:t>
            </a:r>
            <a:endParaRPr sz="1300" b="0" dirty="0">
              <a:solidFill>
                <a:srgbClr val="8B9BB4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97680" y="2113544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4" y="2223272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계획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신호 계획 헤더, 현시, 동시 점등 제약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13544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38744" y="2223272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수집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배치, 실패, 일일 쿼터, 원본 수신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30864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3640592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EF3FB"/>
                </a:solidFill>
                <a:latin typeface="맑은 고딕"/>
                <a:ea typeface="맑은 고딕"/>
              </a:rPr>
              <a:t>검지·제공</a:t>
            </a:r>
            <a:endParaRPr sz="1500" b="1" dirty="0">
              <a:solidFill>
                <a:srgbClr val="EEF3FB"/>
              </a:solidFill>
              <a:latin typeface="맑은 고딕"/>
              <a:ea typeface="맑은 고딕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제공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현재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/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이력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검증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결과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규칙</a:t>
            </a:r>
            <a:r>
              <a:rPr sz="1300" b="0" dirty="0">
                <a:solidFill>
                  <a:srgbClr val="8B9BB4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8B9BB4"/>
                </a:solidFill>
                <a:latin typeface="맑은 고딕"/>
                <a:ea typeface="맑은 고딕"/>
              </a:rPr>
              <a:t>임계값</a:t>
            </a:r>
            <a:endParaRPr sz="1300" b="0" dirty="0">
              <a:solidFill>
                <a:srgbClr val="8B9BB4"/>
              </a:solidFill>
              <a:latin typeface="맑은 고딕"/>
              <a:ea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3530864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4" y="3640592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관제·통제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이슈, 이력, 통제 로그, 현장 요청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530864"/>
            <a:ext cx="3639312" cy="12801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3640592"/>
            <a:ext cx="3346704" cy="107899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계정·집계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8B9BB4"/>
                </a:solidFill>
                <a:latin typeface="맑은 고딕"/>
                <a:ea typeface="맑은 고딕"/>
              </a:rPr>
              <a:t>사용자, 설정, 통계 버킷, 감사 로그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17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DESIGN  ·  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EEF3FB"/>
                </a:solidFill>
                <a:latin typeface="맑은 고딕"/>
                <a:ea typeface="맑은 고딕"/>
              </a:rPr>
              <a:t>API </a:t>
            </a:r>
            <a:r>
              <a:rPr lang="ko-KR" altLang="en-US" sz="2800" b="1" dirty="0">
                <a:solidFill>
                  <a:srgbClr val="EEF3FB"/>
                </a:solidFill>
                <a:latin typeface="맑은 고딕"/>
                <a:ea typeface="맑은 고딕"/>
              </a:rPr>
              <a:t>명세</a:t>
            </a:r>
            <a:endParaRPr sz="2800" b="1" dirty="0">
              <a:solidFill>
                <a:srgbClr val="EEF3FB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맑은 고딕"/>
                <a:ea typeface="맑은 고딕"/>
              </a:rPr>
              <a:t>브라우저는 공공 실시간 API나 UTIC를 직접 치지 않습니다. 외부 연동은 서버 워커 몫입니다.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3246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영역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예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인증·헬스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POST /auth/login, GET /health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로그인은 공개, 나머지는 인증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관제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GET /dashboard/summary, /intersections/{id}, /issues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운영자·관리자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통제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정보 통제·제공 차단·현장 요청·계획 PUT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관리자만. 운영자 403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수집 대상, 규칙 임계값, 계정 CRUD, 쿼터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관리자만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만들지 않음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원본 UPDATE, 신호기 전송, 외부 API 래핑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설계에서 경로 자체가 없음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983480"/>
            <a:ext cx="11155680" cy="13258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5093208"/>
            <a:ext cx="10863072" cy="112471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EF3FB"/>
                </a:solidFill>
                <a:latin typeface="맑은 고딕"/>
                <a:ea typeface="맑은 고딕"/>
              </a:rPr>
              <a:t>계약만 먼저 고정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8B9BB4"/>
                </a:solidFill>
                <a:latin typeface="맑은 고딕"/>
                <a:ea typeface="맑은 고딕"/>
              </a:rPr>
              <a:t>경로·JSON·403 규칙은 Spring/Node 어느 쪽이든 같습니다. JWT와 세션 쿠키 중 무엇으로 구현할지는 5주 게이트에서 고릅니다. 웹소켓은 1차 계약에 넣지 않았습니다.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18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NEXT  ·  WEEK 5  ·  S-D2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EF3FB"/>
                </a:solidFill>
                <a:latin typeface="맑은 고딕"/>
                <a:ea typeface="맑은 고딕"/>
              </a:rPr>
              <a:t>다음 주 할 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55680" cy="402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할 일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산출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담당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9BB4"/>
                          </a:solidFill>
                          <a:latin typeface="맑은 고딕"/>
                          <a:ea typeface="맑은 고딕"/>
                        </a:rPr>
                        <a:t>왜 지금인가</a:t>
                      </a:r>
                    </a:p>
                  </a:txBody>
                  <a:tcPr anchor="ctr"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검증 규칙 명세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R01–R12 입출력·임계 기본값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기경현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엔진 구현 전에 숫자와 분기를 고정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클릭 프로토타입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대시보드·이슈·교차로 상세 3화면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조찬희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UC06·UC07 흐름을 구현 전에 검증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스택·표본·주기 확정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아키텍처 0.2, 용량 표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공동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S1 환경 구축의 입력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UTIC 대체 방식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시드/CSV/추정 우선순위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공동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계획 대조가 승인 없이도 돌아가게</a:t>
                      </a:r>
                    </a:p>
                  </a:txBody>
                  <a:tcPr anchor="ctr">
                    <a:solidFill>
                      <a:srgbClr val="0C1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설계 리뷰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미결 1–6 닫기, M2 체크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공동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EF3FB"/>
                          </a:solidFill>
                          <a:latin typeface="맑은 고딕"/>
                          <a:ea typeface="맑은 고딕"/>
                        </a:rPr>
                        <a:t>구현 착수 게이트</a:t>
                      </a:r>
                    </a:p>
                  </a:txBody>
                  <a:tcPr anchor="ctr">
                    <a:solidFill>
                      <a:srgbClr val="10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394960"/>
            <a:ext cx="11155680" cy="91440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맑은 고딕"/>
                <a:ea typeface="맑은 고딕"/>
              </a:rPr>
              <a:t>용량이 부족하면 프로토타입은 정적 와이어로 축소할 수 있습니다. 규칙 명세와 미결 확정은 축소하지 않습니다.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다음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20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맑은 고딕"/>
                <a:ea typeface="맑은 고딕"/>
              </a:rPr>
              <a:t>NEXT  · 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EF3FB"/>
                </a:solidFill>
                <a:latin typeface="맑은 고딕"/>
                <a:ea typeface="맑은 고딕"/>
              </a:rPr>
              <a:t>5주차에 나와야 하는 산출물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07592"/>
            <a:ext cx="10698480" cy="77724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맑은 고딕"/>
                <a:ea typeface="맑은 고딕"/>
              </a:rPr>
              <a:t>검증 규칙 명세서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맑은 고딕"/>
                <a:ea typeface="맑은 고딕"/>
              </a:rPr>
              <a:t>각 규칙의 입력, 정상/경계/오류 예, 자동보정 vs 이슈 분기, 임계 기본값. 구현 S3–S4의 테스트 헤더가 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96312"/>
            <a:ext cx="10698480" cy="77724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맑은 고딕"/>
                <a:ea typeface="맑은 고딕"/>
              </a:rPr>
              <a:t>화면 프로토타입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맑은 고딕"/>
                <a:ea typeface="맑은 고딕"/>
              </a:rPr>
              <a:t>필수 3화면을 클릭해 관제 루프를 따라갑니다. 화면 ID는 SCR-DASH, SCR-INT-DETAIL, SCR-ISS입니다.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685032"/>
            <a:ext cx="10698480" cy="77724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맑은 고딕"/>
                <a:ea typeface="맑은 고딕"/>
              </a:rPr>
              <a:t>설계 리뷰 기록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맑은 고딕"/>
                <a:ea typeface="맑은 고딕"/>
              </a:rPr>
              <a:t>스택, N×T, 계획 대체, 푸시/지도, 임계값을 결정으로 남깁니다. 아키텍처를 0.2로 올립니다.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 w="12700"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873752"/>
            <a:ext cx="10698480" cy="77724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맑은 고딕"/>
                <a:ea typeface="맑은 고딕"/>
              </a:rPr>
              <a:t>M2 게이트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맑은 고딕"/>
                <a:ea typeface="맑은 고딕"/>
              </a:rPr>
              <a:t>ERD·API·규칙·화면이 저장소에 있고 팀이 같은 결정을 말할 수 있어야 6주 S1(기동·로그인)을 엽니다.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601968"/>
            <a:ext cx="731520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Signal Guard  ·  4주차 주간 보고  ·  다음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6019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BB4"/>
                </a:solidFill>
                <a:latin typeface="맑은 고딕"/>
                <a:ea typeface="맑은 고딕"/>
              </a:rPr>
              <a:t>21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2148840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235000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2551176"/>
            <a:ext cx="146304" cy="14630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058400" cy="20116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400" b="1">
                <a:solidFill>
                  <a:srgbClr val="EEF3FB"/>
                </a:solidFill>
                <a:latin typeface="맑은 고딕"/>
                <a:ea typeface="맑은 고딕"/>
              </a:rPr>
              <a:t>질의응답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8B9BB4"/>
                </a:solidFill>
                <a:latin typeface="맑은 고딕"/>
                <a:ea typeface="맑은 고딕"/>
              </a:rPr>
              <a:t>Signal Guard  ·  조찬희 · 기경현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B9BB4"/>
                </a:solidFill>
                <a:latin typeface="맑은 고딕"/>
                <a:ea typeface="맑은 고딕"/>
              </a:rPr>
              <a:t>분석은 질문을 고정했고, 설계는 구조를 나누기 시작했습니다.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1586</Words>
  <Application>Microsoft Office PowerPoint</Application>
  <PresentationFormat>와이드스크린</PresentationFormat>
  <Paragraphs>275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경현 기</cp:lastModifiedBy>
  <cp:revision>11</cp:revision>
  <dcterms:created xsi:type="dcterms:W3CDTF">2013-01-27T09:14:16Z</dcterms:created>
  <dcterms:modified xsi:type="dcterms:W3CDTF">2026-09-19T10:24:13Z</dcterms:modified>
  <cp:category/>
</cp:coreProperties>
</file>