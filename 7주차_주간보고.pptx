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5" r:id="rId6"/>
    <p:sldId id="266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WEEK 7  ·  WEEKLY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7주차 주간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오류 상황과 처리 방법을
문서로 적었습니다.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0916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조찬희  ·  기경현
웹 프레임워크 (조규철 교수님)  ·  2026.10.12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0" y="1371600"/>
            <a:ext cx="13716" cy="4023360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0" y="210312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Signal
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2062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WEEK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THIS WEEK  ·  S2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32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이번주</a:t>
            </a:r>
            <a:endParaRPr sz="32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7주차 주간 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2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11155680" cy="41148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적은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508760"/>
            <a:ext cx="74872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내용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93392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993392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오류</a:t>
            </a:r>
            <a:r>
              <a:rPr sz="16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1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상황</a:t>
            </a:r>
            <a:endParaRPr sz="16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40480" y="1993392"/>
            <a:ext cx="748728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신호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데이터에서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일어날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있는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상황을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ID로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나누어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적음</a:t>
            </a:r>
            <a:endParaRPr sz="1600" b="0" dirty="0">
              <a:solidFill>
                <a:srgbClr val="8B9BB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2980944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980944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처리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980944"/>
            <a:ext cx="748728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상황마다</a:t>
            </a:r>
            <a:r>
              <a:rPr lang="en-US" sz="160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60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오류 처리 방법을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적음</a:t>
            </a:r>
            <a:endParaRPr sz="1600" b="0" dirty="0">
              <a:solidFill>
                <a:srgbClr val="8B9BB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3968496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968496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6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계획 데이터 수집</a:t>
            </a:r>
            <a:endParaRPr sz="16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40480" y="3968496"/>
            <a:ext cx="748728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60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계획 데이터를 로컬 데이터베이스에 저장</a:t>
            </a:r>
            <a:endParaRPr sz="1600" b="0" dirty="0">
              <a:solidFill>
                <a:srgbClr val="8B9BB4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WEEK 5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lang="ko-KR" altLang="en-US" sz="30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주차 변경사항</a:t>
            </a:r>
            <a:endParaRPr sz="30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7주차 주간 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3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00000"/>
            <a:ext cx="11155680" cy="38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00000"/>
            <a:ext cx="292608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400000"/>
            <a:ext cx="748728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내용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50000"/>
            <a:ext cx="11155680" cy="118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850000"/>
            <a:ext cx="2926080" cy="11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6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실시간 신호 데이터에서</a:t>
            </a:r>
            <a:br>
              <a:rPr lang="en-US" altLang="ko-KR" sz="16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16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임의의 데이터로 바꾼 이유</a:t>
            </a:r>
            <a:endParaRPr sz="16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40480" y="1850000"/>
            <a:ext cx="7487280" cy="11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실시간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API는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전국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데이터로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보이지만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빈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항목이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많습니다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목표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지역의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실측으로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계획과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대조하기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어렵습니다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00000"/>
            <a:ext cx="11155680" cy="118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100000"/>
            <a:ext cx="2926080" cy="11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5주차 </a:t>
            </a:r>
            <a:r>
              <a:rPr sz="1600" b="1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결정</a:t>
            </a:r>
            <a:endParaRPr sz="16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40480" y="3100000"/>
            <a:ext cx="7487280" cy="11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임의의 오류 데이터를 생성해 대시보드에 표시</a:t>
            </a:r>
            <a:endParaRPr sz="1600" b="0" dirty="0">
              <a:solidFill>
                <a:srgbClr val="8B9BB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4350000"/>
            <a:ext cx="11155680" cy="118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350000"/>
            <a:ext cx="2926080" cy="11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6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임의의 데이터</a:t>
            </a:r>
            <a:r>
              <a:rPr sz="16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를 </a:t>
            </a:r>
            <a:r>
              <a:rPr sz="1600" b="1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넣는</a:t>
            </a:r>
            <a:r>
              <a:rPr sz="16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6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방법</a:t>
            </a:r>
            <a:endParaRPr sz="16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40480" y="4350000"/>
            <a:ext cx="7487280" cy="11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정상 신호를 먼저 두고, 그 위에 정한 오류를 넣습니다.
어떤 상황을 넣었는지는 ID로 남깁니다.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ERROR KINDS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32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오류 발생 상황 분류</a:t>
            </a:r>
            <a:endParaRPr sz="32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7주차 주간 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4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000"/>
            <a:ext cx="11155680" cy="30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80000"/>
            <a:ext cx="32004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구분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00000" y="1280000"/>
            <a:ext cx="72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이런 상황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8000"/>
            <a:ext cx="11155680" cy="56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08000"/>
            <a:ext cx="32004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A  수집·수신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0000" y="1608000"/>
            <a:ext cx="720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타임아웃, 빈 응답, 중복 수신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96000"/>
            <a:ext cx="11155680" cy="56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196000"/>
            <a:ext cx="32004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B  값·형식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0000" y="2196000"/>
            <a:ext cx="720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별칭, 결측, 단위가 섞임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784000"/>
            <a:ext cx="11155680" cy="56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2784000"/>
            <a:ext cx="32004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C  시계열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0000" y="2784000"/>
            <a:ext cx="720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잔여시간 급증·급감, 같은 값이 반복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72000"/>
            <a:ext cx="11155680" cy="56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372000"/>
            <a:ext cx="32004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D  현시 논리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0000" y="3372000"/>
            <a:ext cx="720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황색 생략, 교차 방향의 동시 녹색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960000"/>
            <a:ext cx="11155680" cy="56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3960000"/>
            <a:ext cx="32004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E  계획 대조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00000" y="3960000"/>
            <a:ext cx="720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계획과 불일치, 교차로 매핑 오류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548000"/>
            <a:ext cx="11155680" cy="56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548000"/>
            <a:ext cx="32004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F  통제·운영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00000" y="4548000"/>
            <a:ext cx="720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같은 보정이 반복, 권한 없는 수정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136000"/>
            <a:ext cx="11155680" cy="56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136000"/>
            <a:ext cx="32004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G  연쇄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00000" y="5136000"/>
            <a:ext cx="7200000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여러 교차로가 같은 시각에 이상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TABLE ROW  ·  S-D02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32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문서 작성 방법</a:t>
            </a:r>
            <a:endParaRPr sz="32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280000"/>
            <a:ext cx="11155680" cy="36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720000"/>
            <a:ext cx="11155680" cy="150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280000"/>
            <a:ext cx="1500000" cy="3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20000"/>
            <a:ext cx="1500000" cy="1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S-D02</a:t>
            </a:r>
            <a:r>
              <a:rPr lang="en-US" sz="15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5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예시</a:t>
            </a:r>
            <a:r>
              <a:rPr lang="en-US" sz="15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)</a:t>
            </a:r>
            <a:endParaRPr sz="15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00000" y="1280000"/>
            <a:ext cx="3000000" cy="3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0000" y="1720000"/>
            <a:ext cx="3000000" cy="1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북쪽과 동쪽 직진이
동시에 녹색</a:t>
            </a:r>
            <a:br>
              <a:rPr lang="ko-KR" altLang="en-US"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</a:br>
            <a:endParaRPr sz="1500" b="1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20000" y="1280000"/>
            <a:ext cx="1400000" cy="3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0000" y="1720000"/>
            <a:ext cx="1400000" cy="1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R06
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000" y="1280000"/>
            <a:ext cx="2500000" cy="3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0000" y="1720000"/>
            <a:ext cx="2500000" cy="1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제공을 중지</a:t>
            </a:r>
            <a:r>
              <a:rPr lang="en-US" altLang="ko-KR"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.</a:t>
            </a:r>
            <a:br>
              <a:rPr lang="en-US" altLang="ko-KR"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계획은 어긋난 방향 기록</a:t>
            </a:r>
            <a:r>
              <a:rPr lang="en-US" altLang="ko-KR"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.</a:t>
            </a:r>
            <a:br>
              <a:rPr lang="en-US" altLang="ko-KR"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맞으면 제공을 복귀</a:t>
            </a:r>
            <a:endParaRPr sz="1500" b="1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560000" y="1280000"/>
            <a:ext cx="1900000" cy="3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60000" y="1720000"/>
            <a:ext cx="2100000" cy="1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동시 녹색을
넣어 확인</a:t>
            </a:r>
            <a:br>
              <a:rPr lang="ko-KR" altLang="en-US"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</a:br>
            <a:endParaRPr sz="1500" b="1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3480000"/>
            <a:ext cx="109728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각 열의 의미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80000"/>
            <a:ext cx="11155680" cy="42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880000"/>
            <a:ext cx="140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CD34D"/>
                </a:solidFill>
                <a:latin typeface="Malgun Gothic"/>
                <a:ea typeface="Malgun Gothic"/>
                <a:cs typeface="Malgun Gothic"/>
              </a:rPr>
              <a:t>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0000" y="3880000"/>
            <a:ext cx="920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상황을</a:t>
            </a:r>
            <a:r>
              <a:rPr sz="14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구분하는</a:t>
            </a:r>
            <a:r>
              <a:rPr sz="14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번호입니다</a:t>
            </a:r>
            <a:r>
              <a:rPr sz="14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4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수집은</a:t>
            </a:r>
            <a:r>
              <a:rPr sz="14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A, </a:t>
            </a:r>
            <a:r>
              <a:rPr sz="14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값은</a:t>
            </a:r>
            <a:r>
              <a:rPr sz="14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B처럼</a:t>
            </a:r>
            <a:r>
              <a:rPr sz="14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문자와</a:t>
            </a:r>
            <a:r>
              <a:rPr sz="14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번호를</a:t>
            </a:r>
            <a:r>
              <a:rPr sz="14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붙입니다</a:t>
            </a:r>
            <a:r>
              <a:rPr sz="14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336000"/>
            <a:ext cx="11155680" cy="42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336000"/>
            <a:ext cx="140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CD34D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00000" y="4336000"/>
            <a:ext cx="920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그때 들어온 입력이 어떤 모습인지입니다.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792000"/>
            <a:ext cx="11155680" cy="42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4792000"/>
            <a:ext cx="140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CD34D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0000" y="4792000"/>
            <a:ext cx="920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어떤 규칙으로 보고, 등급은 무엇인지입니다.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248000"/>
            <a:ext cx="11155680" cy="42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5248000"/>
            <a:ext cx="140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CD34D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00000" y="5248000"/>
            <a:ext cx="920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시스템이 원본과 제공 값에 무엇을 하는지입니다.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704000"/>
            <a:ext cx="11155680" cy="42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5704000"/>
            <a:ext cx="140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CD34D"/>
                </a:solidFill>
                <a:latin typeface="Malgun Gothic"/>
                <a:ea typeface="Malgun Gothic"/>
                <a:cs typeface="Malgun Gothic"/>
              </a:rPr>
              <a:t>검증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00000" y="5704000"/>
            <a:ext cx="920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그 결과가 맞는지 어떤 데이터로 확인하는지입니다.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7주차 주간 보고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5  / 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9DEC38-6AAC-88A5-EA2C-CDE32E34B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409E33-E4BC-EB5D-75C9-88FD19B68C2E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BFE390-94E5-946F-6D7D-6EC72218E43A}"/>
              </a:ext>
            </a:extLst>
          </p:cNvPr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EXAMPLE  ·  S-D02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FB40DD-5A15-F028-4197-63F1983464AD}"/>
              </a:ext>
            </a:extLst>
          </p:cNvPr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32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오류 상황 예시</a:t>
            </a:r>
            <a:endParaRPr sz="32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409E6B-79C9-09CB-ABFD-2954D7E0A5D1}"/>
              </a:ext>
            </a:extLst>
          </p:cNvPr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7주차 주간 보고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F4789C-A1D2-3032-7B8C-62E06B782318}"/>
              </a:ext>
            </a:extLst>
          </p:cNvPr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6  /  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1320000"/>
            <a:ext cx="4700000" cy="156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2920" y="1500000"/>
            <a:ext cx="43000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CD34D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920" y="1940000"/>
            <a:ext cx="4300000" cy="8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북쪽 직진과 동쪽 직진이
동시에 녹색입니다.
가운데에서 진행이 겹칩니다.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2960000"/>
            <a:ext cx="4700000" cy="156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22920" y="3140000"/>
            <a:ext cx="43000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CD34D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920" y="3580000"/>
            <a:ext cx="4300000" cy="8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R06 CRITICAL.
한 번 관측되면
바로 이슈로 올립니다.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600000"/>
            <a:ext cx="4700000" cy="156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2920" y="4780000"/>
            <a:ext cx="43000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CD34D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920" y="5220000"/>
            <a:ext cx="4300000" cy="8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6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교차 방향의 제공을 중지합니다</a:t>
            </a:r>
            <a:r>
              <a:rPr lang="en-US" altLang="ko-KR" sz="16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.</a:t>
            </a:r>
            <a:br>
              <a:rPr lang="en-US" altLang="ko-KR" sz="16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16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계획으로 어긋난 방향을 이슈에 적습니다</a:t>
            </a:r>
            <a:r>
              <a:rPr lang="en-US" altLang="ko-KR" sz="16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.</a:t>
            </a:r>
            <a:br>
              <a:rPr lang="en-US" altLang="ko-KR" sz="16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16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세 주기 연속 맞으면 제공을 되돌립니다</a:t>
            </a:r>
            <a:r>
              <a:rPr lang="en-US" altLang="ko-KR" sz="16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600" b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912" y="1320000"/>
            <a:ext cx="5904688" cy="4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136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CAN BE CORRECTED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30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자동 보정 가능 상황</a:t>
            </a:r>
            <a:endParaRPr sz="30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7주차 주간 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7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0000"/>
            <a:ext cx="11155680" cy="34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20000"/>
            <a:ext cx="4300000" cy="3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0000" y="1320000"/>
            <a:ext cx="6100000" cy="3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08000"/>
            <a:ext cx="11155680" cy="86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708000"/>
            <a:ext cx="4300000" cy="8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점등상태가 G, green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0000" y="1708000"/>
            <a:ext cx="6100000" cy="8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제공값만 표준 코드로 바꿈</a:t>
            </a:r>
            <a: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.</a:t>
            </a:r>
            <a:b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원본은 유지하고 로그만 남김</a:t>
            </a:r>
            <a:endParaRPr sz="1500" b="0">
              <a:solidFill>
                <a:srgbClr val="8B9BB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2616000"/>
            <a:ext cx="11155680" cy="86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616000"/>
            <a:ext cx="4300000" cy="8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같은 내용이 두 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0000" y="2616000"/>
            <a:ext cx="6100000" cy="8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원본은 두고 제공값만 하나로 둠</a:t>
            </a:r>
            <a:endParaRPr sz="1500" b="0">
              <a:solidFill>
                <a:srgbClr val="8B9BB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3524000"/>
            <a:ext cx="11155680" cy="86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524000"/>
            <a:ext cx="4300000" cy="8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잔여가 계획 길이를 조금 넘음</a:t>
            </a:r>
            <a:endParaRPr sz="1500" b="1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00000" y="3524000"/>
            <a:ext cx="6100000" cy="8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조금 넘으면 제공값만 상한으로 맞춤</a:t>
            </a:r>
            <a: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.</a:t>
            </a:r>
            <a:b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많이 넘으면 제공하지 않고 이슈에 계획 길이를 적음</a:t>
            </a:r>
            <a:endParaRPr sz="1500" b="0">
              <a:solidFill>
                <a:srgbClr val="8B9BB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4432000"/>
            <a:ext cx="11155680" cy="86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432000"/>
            <a:ext cx="4300000" cy="8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한 주기만 잔여가 비어 있음</a:t>
            </a:r>
            <a:endParaRPr sz="1500" b="1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00000" y="4432000"/>
            <a:ext cx="6100000" cy="8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직전과 계획이 같은 현시면 </a:t>
            </a:r>
            <a: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초만 채움</a:t>
            </a:r>
            <a: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.</a:t>
            </a:r>
            <a:b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다르거나 연속이면 채우지 않고 이슈</a:t>
            </a:r>
            <a:endParaRPr sz="1500" b="0">
              <a:solidFill>
                <a:srgbClr val="8B9BB4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CANNOT BE CORRECTED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30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자동 보정 불가 상황</a:t>
            </a:r>
            <a:endParaRPr sz="30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7주차 주간 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8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000"/>
            <a:ext cx="11155680" cy="32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80000"/>
            <a:ext cx="43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0000" y="1280000"/>
            <a:ext cx="61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0000"/>
            <a:ext cx="11155680" cy="76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0000"/>
            <a:ext cx="4300000" cy="7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사전에 없는 코드, 단위 불명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0000" y="1640000"/>
            <a:ext cx="6100000" cy="7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추정하지 않고 계획값도 넣지 않음</a:t>
            </a:r>
            <a: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.</a:t>
            </a:r>
            <a:b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그 방향의 제공을 잠시 막음</a:t>
            </a:r>
            <a:endParaRPr sz="1500" b="0">
              <a:solidFill>
                <a:srgbClr val="8B9BB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2440000"/>
            <a:ext cx="11155680" cy="76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440000"/>
            <a:ext cx="4300000" cy="7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같은 녹색인데 잔여만 급증</a:t>
            </a:r>
            <a:endParaRPr sz="1500" b="1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00000" y="2440000"/>
            <a:ext cx="6100000" cy="7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그 숫자는 제공하지 않고 확인 중</a:t>
            </a:r>
            <a: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.</a:t>
            </a:r>
            <a:b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계획 잔여로 채우지 않음</a:t>
            </a:r>
            <a: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세 주기 맞으면 복귀</a:t>
            </a:r>
            <a:endParaRPr sz="1500" b="0">
              <a:solidFill>
                <a:srgbClr val="8B9BB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3240000"/>
            <a:ext cx="11155680" cy="76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240000"/>
            <a:ext cx="4300000" cy="7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교차 방향이 동시에 녹색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0000" y="3240000"/>
            <a:ext cx="6100000" cy="7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두 방향 제공을 중지</a:t>
            </a:r>
            <a: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계획 녹색은 넣지 않음</a:t>
            </a:r>
            <a: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.</a:t>
            </a:r>
            <a:b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어긋난 방향만 적고</a:t>
            </a:r>
            <a: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세 주기 맞으면 복귀</a:t>
            </a:r>
            <a:endParaRPr sz="1500" b="0">
              <a:solidFill>
                <a:srgbClr val="8B9BB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4040000"/>
            <a:ext cx="11155680" cy="76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040000"/>
            <a:ext cx="4300000" cy="7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수집이 여러 주기 끊김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0000" y="4040000"/>
            <a:ext cx="6100000" cy="7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빈 구간을 계획으로 채우지 않음</a:t>
            </a:r>
            <a: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.</a:t>
            </a:r>
            <a:b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지연 후 이슈</a:t>
            </a:r>
            <a: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세 주기 맞으면 복귀</a:t>
            </a:r>
            <a:endParaRPr sz="1500" b="0">
              <a:solidFill>
                <a:srgbClr val="8B9BB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4840000"/>
            <a:ext cx="11155680" cy="76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840000"/>
            <a:ext cx="4300000" cy="7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5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수신이 계획과 계속 다름</a:t>
            </a:r>
            <a:endParaRPr sz="1500" b="1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00000" y="4840000"/>
            <a:ext cx="6100000" cy="7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틀린 값은 제공하지 않음</a:t>
            </a:r>
            <a: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.</a:t>
            </a:r>
            <a:b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매핑</a:t>
            </a:r>
            <a: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시각</a:t>
            </a:r>
            <a: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현시</a:t>
            </a:r>
            <a:r>
              <a:rPr lang="en-US" altLang="ko-KR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현장 순으로 원인을 가림</a:t>
            </a:r>
            <a:endParaRPr sz="1500" b="0">
              <a:solidFill>
                <a:srgbClr val="8B9BB4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NEXT  · 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다음 주 할 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7주차 주간 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9  /  10</a:t>
            </a:r>
          </a:p>
        </p:txBody>
      </p:sp>
      <p:sp>
        <p:nvSpPr>
          <p:cNvPr id="14" name="Rounded Rectangle 7 14"/>
          <p:cNvSpPr/>
          <p:nvPr/>
        </p:nvSpPr>
        <p:spPr>
          <a:xfrm>
            <a:off x="502920" y="1680000"/>
            <a:ext cx="6400000" cy="176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8 15"/>
          <p:cNvSpPr txBox="1"/>
          <p:nvPr/>
        </p:nvSpPr>
        <p:spPr>
          <a:xfrm>
            <a:off x="758952" y="1960000"/>
            <a:ext cx="5800000" cy="4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중간보고</a:t>
            </a:r>
          </a:p>
        </p:txBody>
      </p:sp>
      <p:sp>
        <p:nvSpPr>
          <p:cNvPr id="16" name="TextBox 9 16"/>
          <p:cNvSpPr txBox="1"/>
          <p:nvPr/>
        </p:nvSpPr>
        <p:spPr>
          <a:xfrm>
            <a:off x="758952" y="2520000"/>
            <a:ext cx="5800000" cy="5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중간보고서를 작성합니다.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질의응답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0916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조찬희  ·  기경현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0" y="1371600"/>
            <a:ext cx="13716" cy="4023360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0" y="210312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Signal
Guard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692</Words>
  <Application>Microsoft Office PowerPoint</Application>
  <PresentationFormat>와이드스크린</PresentationFormat>
  <Paragraphs>128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경현 기</cp:lastModifiedBy>
  <cp:revision>18</cp:revision>
  <dcterms:created xsi:type="dcterms:W3CDTF">2013-01-27T09:14:16Z</dcterms:created>
  <dcterms:modified xsi:type="dcterms:W3CDTF">2026-10-11T16:26:23Z</dcterms:modified>
  <cp:category/>
</cp:coreProperties>
</file>