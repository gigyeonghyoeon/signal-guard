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WEEK 9  ·  MIDTERM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9</a:t>
            </a:r>
            <a:r>
              <a:rPr lang="ko-KR" altLang="en-US" sz="4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주차 </a:t>
            </a:r>
            <a:r>
              <a:rPr sz="40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보고</a:t>
            </a:r>
            <a:endParaRPr sz="40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713232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1주부터 9주까지.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계획과</a:t>
            </a: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임의의</a:t>
            </a: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</a:t>
            </a: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데이터로</a:t>
            </a: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lang="ko-KR" altLang="en-US"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를 검지</a:t>
            </a:r>
            <a:r>
              <a:rPr sz="20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4924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조찬희  ·  기경현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웹 프레임워크 (조규철 교수님)  ·  2026.10.26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325880"/>
            <a:ext cx="13716" cy="4206240"/>
          </a:xfrm>
          <a:prstGeom prst="rect">
            <a:avLst/>
          </a:prstGeom>
          <a:solidFill>
            <a:srgbClr val="24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1605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MIDTERM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목차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11173968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64008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53312"/>
            <a:ext cx="3931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22576"/>
            <a:ext cx="11173968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22576"/>
            <a:ext cx="64008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22576"/>
            <a:ext cx="3931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대비 진행 현황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11173968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64008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91840"/>
            <a:ext cx="3931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단계별 산출물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61104"/>
            <a:ext cx="11173968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61104"/>
            <a:ext cx="64008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61104"/>
            <a:ext cx="3931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30368"/>
            <a:ext cx="11173968" cy="89611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64008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230368"/>
            <a:ext cx="3931920" cy="8961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향후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 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개요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142540"/>
            <a:ext cx="11173968" cy="15544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2797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신호 데이터 와 교차로 계획 데이터를 사용하는 </a:t>
            </a:r>
            <a:endParaRPr lang="en-US" altLang="ko-KR" sz="2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신호 데이터 오류 검지 시스템</a:t>
            </a:r>
            <a:endParaRPr sz="2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3879900"/>
            <a:ext cx="5593080" cy="2100276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8799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발주 처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49477" y="5304148"/>
            <a:ext cx="2377440" cy="64397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한국 도로 교통 공단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25768" y="3879900"/>
            <a:ext cx="5151120" cy="2100276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38799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배경</a:t>
            </a:r>
            <a:endParaRPr sz="16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86587" y="4676668"/>
            <a:ext cx="442040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공공 데이터 센터에 전송되는 신호 데이터가 </a:t>
            </a:r>
            <a:br>
              <a:rPr lang="en-US" altLang="ko-KR"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6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실제 신호와 다르거나 갑자기 변경됨</a:t>
            </a:r>
            <a:endParaRPr sz="16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3  / 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CE15-90BE-3BAD-31A6-FBC2863676CA}"/>
              </a:ext>
            </a:extLst>
          </p:cNvPr>
          <p:cNvSpPr txBox="1"/>
          <p:nvPr/>
        </p:nvSpPr>
        <p:spPr>
          <a:xfrm>
            <a:off x="521208" y="1527048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 GUARD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7CE8C5D-5601-F643-32BC-6FA8F409A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" y="4662175"/>
            <a:ext cx="2347163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 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  /  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40000"/>
            <a:ext cx="11173968" cy="9308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240000"/>
            <a:ext cx="548640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240000"/>
            <a:ext cx="10030968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인천 표본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모집단은 인천이고, 구현해서 보여주는 대상은 그 안의 표본이다.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62288"/>
            <a:ext cx="11173968" cy="9308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262288"/>
            <a:ext cx="548640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62288"/>
            <a:ext cx="10030968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임의의 신호 데이터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상태 값의 항목은 교차로 ID, 8방향 잔여시간·점등상태다.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84576"/>
            <a:ext cx="11173968" cy="9308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284576"/>
            <a:ext cx="548640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84576"/>
            <a:ext cx="10030968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로컬 저장, 시드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공개 계획을 로컬에 저장하고, 시드와 수동 등록으로 상태와 대조한다.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06864"/>
            <a:ext cx="11173968" cy="9308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306864"/>
            <a:ext cx="548640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06864"/>
            <a:ext cx="10030968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규칙, 이슈, 대시보드, 로그인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규칙으로 오류를 판정하고, 이슈와 대시보드에서 권한에 따라 본다.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29152"/>
            <a:ext cx="11173968" cy="9308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329152"/>
            <a:ext cx="548640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29152"/>
            <a:ext cx="10030968" cy="9308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정보·계획 통제, 현장 요청 기록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제공 정보와 계획을 수정해 닫고, 현장 통제 요청은 기록으로 남긴다.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 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변경</a:t>
            </a: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점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503885"/>
            <a:ext cx="5047648" cy="10515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519927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실시간 데이터</a:t>
            </a:r>
            <a:endParaRPr sz="18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880" y="2375549"/>
            <a:ext cx="279293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적은 일일 호출 한도</a:t>
            </a:r>
            <a:endParaRPr lang="en-US" altLang="ko-KR"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실시간 데이터 부재</a:t>
            </a:r>
            <a:endParaRPr lang="en-US" altLang="ko-KR"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5  /  12</a:t>
            </a: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71457BFF-E5A8-3D40-7A8A-89FB7EC9D6C4}"/>
              </a:ext>
            </a:extLst>
          </p:cNvPr>
          <p:cNvSpPr/>
          <p:nvPr/>
        </p:nvSpPr>
        <p:spPr>
          <a:xfrm>
            <a:off x="6357327" y="2519927"/>
            <a:ext cx="5047648" cy="10515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6B848-6339-7763-873C-EB67FA83157A}"/>
              </a:ext>
            </a:extLst>
          </p:cNvPr>
          <p:cNvSpPr txBox="1"/>
          <p:nvPr/>
        </p:nvSpPr>
        <p:spPr>
          <a:xfrm>
            <a:off x="625643" y="1527083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변경 전</a:t>
            </a:r>
            <a:endParaRPr sz="20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A5DD3E-E104-9FB8-480E-1CD0B623D2D2}"/>
              </a:ext>
            </a:extLst>
          </p:cNvPr>
          <p:cNvSpPr txBox="1"/>
          <p:nvPr/>
        </p:nvSpPr>
        <p:spPr>
          <a:xfrm>
            <a:off x="6419729" y="1494999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변경 후</a:t>
            </a:r>
            <a:endParaRPr sz="20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C51D8E-73C4-3ABA-F181-592787A97974}"/>
              </a:ext>
            </a:extLst>
          </p:cNvPr>
          <p:cNvSpPr txBox="1"/>
          <p:nvPr/>
        </p:nvSpPr>
        <p:spPr>
          <a:xfrm>
            <a:off x="6464808" y="2503885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임의의</a:t>
            </a:r>
            <a:r>
              <a:rPr lang="ko-KR" altLang="en-US" sz="18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 데이터</a:t>
            </a:r>
            <a:endParaRPr sz="18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BD570E-24C9-192A-8BE8-3C48DB34BF76}"/>
              </a:ext>
            </a:extLst>
          </p:cNvPr>
          <p:cNvSpPr txBox="1"/>
          <p:nvPr/>
        </p:nvSpPr>
        <p:spPr>
          <a:xfrm>
            <a:off x="8183880" y="2503885"/>
            <a:ext cx="279293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실시간 신호 데이터를 참고해서 임의의 데이터 생성</a:t>
            </a:r>
            <a:endParaRPr lang="en-US" altLang="ko-KR"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BB5EB5EB-98D5-BC46-D328-844CC2B07C21}"/>
              </a:ext>
            </a:extLst>
          </p:cNvPr>
          <p:cNvSpPr/>
          <p:nvPr/>
        </p:nvSpPr>
        <p:spPr>
          <a:xfrm>
            <a:off x="502920" y="4148133"/>
            <a:ext cx="5047648" cy="10515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AE78A5-3D79-F3E3-DC07-428EBBC8D662}"/>
              </a:ext>
            </a:extLst>
          </p:cNvPr>
          <p:cNvSpPr txBox="1"/>
          <p:nvPr/>
        </p:nvSpPr>
        <p:spPr>
          <a:xfrm>
            <a:off x="749808" y="4083965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범위 확장</a:t>
            </a:r>
            <a:endParaRPr sz="18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BB8AA8-3408-D2A5-F0BB-20A45B92834D}"/>
              </a:ext>
            </a:extLst>
          </p:cNvPr>
          <p:cNvSpPr txBox="1"/>
          <p:nvPr/>
        </p:nvSpPr>
        <p:spPr>
          <a:xfrm>
            <a:off x="2468880" y="4019797"/>
            <a:ext cx="279293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실시간 신호 데이터 오류 검지</a:t>
            </a:r>
            <a:endParaRPr lang="en-US" altLang="ko-KR"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0" name="Rounded Rectangle 4">
            <a:extLst>
              <a:ext uri="{FF2B5EF4-FFF2-40B4-BE49-F238E27FC236}">
                <a16:creationId xmlns:a16="http://schemas.microsoft.com/office/drawing/2014/main" id="{C92D58E5-6DA0-4FAD-5446-3E91270D52D2}"/>
              </a:ext>
            </a:extLst>
          </p:cNvPr>
          <p:cNvSpPr/>
          <p:nvPr/>
        </p:nvSpPr>
        <p:spPr>
          <a:xfrm>
            <a:off x="6357327" y="4164175"/>
            <a:ext cx="5047648" cy="10515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06E4BB-B1FA-1BCC-8469-F09CDCFC1A23}"/>
              </a:ext>
            </a:extLst>
          </p:cNvPr>
          <p:cNvSpPr txBox="1"/>
          <p:nvPr/>
        </p:nvSpPr>
        <p:spPr>
          <a:xfrm>
            <a:off x="6464808" y="4148133"/>
            <a:ext cx="1554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오류 데이터</a:t>
            </a:r>
            <a:endParaRPr sz="18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9D7C4-EA4B-17B0-ADFD-AEFFA12F9CDA}"/>
              </a:ext>
            </a:extLst>
          </p:cNvPr>
          <p:cNvSpPr txBox="1"/>
          <p:nvPr/>
        </p:nvSpPr>
        <p:spPr>
          <a:xfrm>
            <a:off x="8183880" y="4148133"/>
            <a:ext cx="2792931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해결 가능한 이슈일 경우</a:t>
            </a:r>
            <a:br>
              <a:rPr lang="en-US" altLang="ko-KR"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</a:br>
            <a:r>
              <a:rPr lang="ko-KR" altLang="en-US"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데이터 자동 보정</a:t>
            </a:r>
            <a:endParaRPr lang="en-US" altLang="ko-KR"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 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방법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389888"/>
            <a:ext cx="5504688" cy="22402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수신</a:t>
            </a:r>
            <a:r>
              <a:rPr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처리</a:t>
            </a:r>
            <a:endParaRPr sz="20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제공값을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별칭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결측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고칠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없으면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내보내지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않습니다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원본은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유지</a:t>
            </a:r>
            <a:endParaRPr sz="15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9088" y="15361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신호기</a:t>
            </a:r>
            <a:r>
              <a:rPr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2000" b="1" dirty="0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 dirty="0" err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처리</a:t>
            </a:r>
            <a:endParaRPr sz="2000" b="1" dirty="0">
              <a:solidFill>
                <a:srgbClr val="5B8DE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9088" y="2011680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점등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잔여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운영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모드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주기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시작을</a:t>
            </a:r>
            <a:endParaRPr sz="15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계획에</a:t>
            </a:r>
            <a:r>
              <a:rPr sz="15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5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대조</a:t>
            </a:r>
            <a:endParaRPr sz="1500" b="0" dirty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11173968" cy="2286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977639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자동 보정을 하지 않는 오류</a:t>
            </a:r>
            <a:endParaRPr sz="18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45262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형식이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깨진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값,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값이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비어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있음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계획이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매핑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긴급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우선·수동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운영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되돌릴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현시가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없을</a:t>
            </a:r>
            <a:r>
              <a:rPr sz="16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2   계획 대비 진행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초기</a:t>
            </a:r>
            <a:r>
              <a:rPr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599557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2011680" cy="1599557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1–3주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제안요청서를 수업 범위로. 목적과 데이터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13346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13346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39건 대응. 기능·비기능 요구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46531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46531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유스케이스·스토리. 15주 백로그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0301"/>
            <a:ext cx="10972800" cy="106637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980301"/>
            <a:ext cx="2011680" cy="1066372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4–5주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80301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80301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구성, 필수 화면, ERD 초안, 용량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13487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13487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API, R01–R12와 임계값, 프로토타입, 미결 종료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47257"/>
            <a:ext cx="10972800" cy="2132743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147257"/>
            <a:ext cx="2011680" cy="2132743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6–9주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47257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147257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환경, 스키마, API 골격, 로그인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80443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680443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교차로 5곳 임의 신호. 원본과 정규화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13628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13628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시드 계획. 엔진이 등급을 남김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746814"/>
            <a:ext cx="54864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746814"/>
            <a:ext cx="8138160" cy="533186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급변·중복·계획 불일치를 보정 또는 이슈로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2   계획 대비 진행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계획 대비 진행 현황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8  / 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1261872"/>
            <a:ext cx="11173968" cy="384048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12618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1261872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진행률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126187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계획보다 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26187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계획보다 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1719072"/>
            <a:ext cx="11173968" cy="144475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188366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432304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1–3주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719072"/>
            <a:ext cx="1325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1719072"/>
            <a:ext cx="356616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1719072"/>
            <a:ext cx="3611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236976"/>
            <a:ext cx="11173968" cy="144475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40156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설계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950208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4–5주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236976"/>
            <a:ext cx="1325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100</a:t>
            </a:r>
            <a:r>
              <a:rPr sz="2800" b="1" dirty="0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236976"/>
            <a:ext cx="356616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표본 교차로 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신호를 넣는 간격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236976"/>
            <a:ext cx="3611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754880"/>
            <a:ext cx="11173968" cy="1444752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919472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468112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6–8주 </a:t>
            </a:r>
            <a:r>
              <a:rPr sz="1300" b="0" dirty="0" err="1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충족</a:t>
            </a:r>
            <a:r>
              <a:rPr sz="1300" b="0" dirty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 · 50점 중 35점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754880"/>
            <a:ext cx="1325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80" y="4754880"/>
            <a:ext cx="356616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9주  보정·이슈 분기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8B9BB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18120" y="4754880"/>
            <a:ext cx="3611880" cy="14447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대시보드 화면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이슈 확인은 10주 목표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400" b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3   단계별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단계별 산출물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9  / 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240000"/>
            <a:ext cx="5518404" cy="504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1285720"/>
            <a:ext cx="3200400" cy="54864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분석   </a:t>
            </a: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1–3주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8284" y="1285720"/>
            <a:ext cx="1280160" cy="54864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115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프로젝트 정의서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범위, 데이터, 15주 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372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요구사항 정의서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기능·비기능 요구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629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제안요청서 대응표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39건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886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유스케이스·사용자 스토리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필수 스토리 29건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143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백로그·WBS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스프린트, 마일스톤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000"/>
            <a:ext cx="5244084" cy="72570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검지, 관제, 통제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8484" y="1240000"/>
            <a:ext cx="5518404" cy="504000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5644" y="1285720"/>
            <a:ext cx="3200400" cy="54864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설계   </a:t>
            </a: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4–5주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1285720"/>
            <a:ext cx="1280160" cy="548640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5644" y="1811500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계층과 검지 흐름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644" y="2355775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화면 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역할별 메뉴, 필수 화면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644" y="2900050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원본과 제공 분리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644" y="3444325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데이터 정의서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테이블, 컬럼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644" y="3988600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API 명세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인증, 이슈, 계획, 통계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5644" y="4532875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개발 환경·기술 스택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React, Spring Boot, 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5644" y="5077150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순차 다이어그램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처리 순서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5644" y="5621425"/>
            <a:ext cx="5244084" cy="544275"/>
          </a:xfrm>
          <a:prstGeom prst="rect">
            <a:avLst/>
          </a:prstGeom>
          <a:noFill/>
        </p:spPr>
        <p:txBody>
          <a:bodyPr wrap="square" lIns="36576" tIns="0" rIns="36576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검증 규칙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R01–R12, 등급, 임계값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5 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향후 계획</a:t>
            </a:r>
            <a:endParaRPr sz="32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2440" y="1371600"/>
            <a:ext cx="3584448" cy="379476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10–11주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53619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12–13주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15361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14–15주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3246120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임의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신호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적재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R06 · R03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R08 · R10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11주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금요일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동결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07992" y="2057400"/>
            <a:ext cx="3246120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스토리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시험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원본이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유지되는지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운영자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통제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거부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치명·주요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57400"/>
            <a:ext cx="3200400" cy="2834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매뉴얼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가이드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시연·발표</a:t>
            </a:r>
            <a:endParaRPr sz="1600" b="0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11173968" cy="868680"/>
          </a:xfrm>
          <a:prstGeom prst="roundRect">
            <a:avLst>
              <a:gd name="adj" fmla="val 8000"/>
            </a:avLst>
          </a:prstGeom>
          <a:solidFill>
            <a:srgbClr val="10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530352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111</a:t>
            </a:r>
            <a:r>
              <a:rPr lang="ko-KR" altLang="en-US" sz="160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주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이후에는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기능을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추가하지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않습니다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밀린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검지는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12주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전에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dirty="0" err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닫습니다</a:t>
            </a:r>
            <a:r>
              <a:rPr sz="1600" b="0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Signal Guard  ·  9주차 중간보고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4652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11  /  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F58963-8FDE-06AD-F5D6-8040A98DA082}"/>
              </a:ext>
            </a:extLst>
          </p:cNvPr>
          <p:cNvSpPr txBox="1"/>
          <p:nvPr/>
        </p:nvSpPr>
        <p:spPr>
          <a:xfrm>
            <a:off x="13542579" y="15765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000" b="1" dirty="0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sz="4000" b="1" dirty="0">
              <a:solidFill>
                <a:srgbClr val="EEF3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10주 말에 같은 임의 신호를 다시 넣으면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같은 등급이 나옵니다. 원본은 그대로입니다.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94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BB4"/>
                </a:solidFill>
                <a:latin typeface="Malgun Gothic"/>
                <a:ea typeface="Malgun Gothic"/>
                <a:cs typeface="Malgun Gothic"/>
              </a:rPr>
              <a:t>조찬희  ·  기경현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554480"/>
            <a:ext cx="13716" cy="3749039"/>
          </a:xfrm>
          <a:prstGeom prst="rect">
            <a:avLst/>
          </a:prstGeom>
          <a:solidFill>
            <a:srgbClr val="24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0" y="233172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EF3FB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976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8DEF"/>
                </a:solidFill>
                <a:latin typeface="Malgun Gothic"/>
                <a:ea typeface="Malgun Gothic"/>
                <a:cs typeface="Malgun Gothic"/>
              </a:rPr>
              <a:t>MIDTERM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721</Words>
  <Application>Microsoft Office PowerPoint</Application>
  <PresentationFormat>와이드스크린</PresentationFormat>
  <Paragraphs>203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경현 기</cp:lastModifiedBy>
  <cp:revision>22</cp:revision>
  <dcterms:created xsi:type="dcterms:W3CDTF">2013-01-27T09:14:16Z</dcterms:created>
  <dcterms:modified xsi:type="dcterms:W3CDTF">2026-10-26T09:07:40Z</dcterms:modified>
  <cp:category/>
</cp:coreProperties>
</file>