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1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77240" y="658368"/>
            <a:ext cx="512064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1eb1be"/>
                </a:solidFill>
                <a:latin typeface="맑은 고딕"/>
              </a:rPr>
              <a:t>WEEK 01 · PROJECT PROPOSAL</a:t>
            </a:r>
            <a:endParaRPr sz="12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9966960" cy="12344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3200" b="1">
                <a:solidFill>
                  <a:srgbClr val="ffffff"/>
                </a:solidFill>
                <a:latin typeface="맑은 고딕"/>
              </a:rPr>
              <a:t>실시간 교통신호 상태정보</a:t>
            </a:r>
            <a:endParaRPr sz="3200" b="1">
              <a:solidFill>
                <a:srgbClr val="ffffff"/>
              </a:solidFill>
              <a:latin typeface="맑은 고딕"/>
            </a:endParaRPr>
          </a:p>
          <a:p>
            <a:pPr lvl="0" algn="l">
              <a:defRPr/>
            </a:pPr>
            <a:r>
              <a:rPr sz="3200" b="1">
                <a:solidFill>
                  <a:srgbClr val="ffffff"/>
                </a:solidFill>
                <a:latin typeface="맑은 고딕"/>
              </a:rPr>
              <a:t>오류검지 시스템</a:t>
            </a:r>
            <a:endParaRPr sz="32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2697480"/>
            <a:ext cx="932688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700" b="0">
                <a:solidFill>
                  <a:srgbClr val="cddce9"/>
                </a:solidFill>
                <a:latin typeface="맑은 고딕"/>
              </a:rPr>
              <a:t>교통신호 데이터의 이상을 조기에 발견하고</a:t>
            </a:r>
            <a:endParaRPr sz="1700" b="0">
              <a:solidFill>
                <a:srgbClr val="cddce9"/>
              </a:solidFill>
              <a:latin typeface="맑은 고딕"/>
            </a:endParaRPr>
          </a:p>
          <a:p>
            <a:pPr lvl="0" algn="l">
              <a:defRPr/>
            </a:pPr>
            <a:r>
              <a:rPr sz="1700" b="0">
                <a:solidFill>
                  <a:srgbClr val="cddce9"/>
                </a:solidFill>
                <a:latin typeface="맑은 고딕"/>
              </a:rPr>
              <a:t>운영자가 신속히 대응하는 웹 기반 모니터링 플랫폼</a:t>
            </a:r>
            <a:endParaRPr sz="1700" b="0">
              <a:solidFill>
                <a:srgbClr val="cddce9"/>
              </a:solidFill>
              <a:latin typeface="맑은 고딕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" y="4800600"/>
            <a:ext cx="5257800" cy="987552"/>
          </a:xfrm>
          <a:prstGeom prst="roundRect">
            <a:avLst>
              <a:gd name="adj" fmla="val 16667"/>
            </a:avLst>
          </a:prstGeom>
          <a:solidFill>
            <a:srgbClr val="1e3650"/>
          </a:solidFill>
          <a:ln w="12700">
            <a:solidFill>
              <a:srgbClr val="3753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05840" y="5010912"/>
            <a:ext cx="4846320" cy="31127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350" b="1">
                <a:solidFill>
                  <a:srgbClr val="ffffff"/>
                </a:solidFill>
                <a:latin typeface="맑은 고딕"/>
              </a:rPr>
              <a:t>팀</a:t>
            </a:r>
            <a:r>
              <a:rPr lang="ko-KR" altLang="en-US" sz="1350" b="1">
                <a:solidFill>
                  <a:srgbClr val="ffffff"/>
                </a:solidFill>
                <a:latin typeface="맑은 고딕"/>
              </a:rPr>
              <a:t>원</a:t>
            </a:r>
            <a:r>
              <a:rPr sz="1350" b="1">
                <a:solidFill>
                  <a:srgbClr val="ffffff"/>
                </a:solidFill>
                <a:latin typeface="맑은 고딕"/>
              </a:rPr>
              <a:t>  |</a:t>
            </a:r>
            <a:r>
              <a:rPr lang="ko-KR" altLang="en-US" sz="1350" b="1">
                <a:solidFill>
                  <a:srgbClr val="ffffff"/>
                </a:solidFill>
                <a:latin typeface="맑은 고딕"/>
              </a:rPr>
              <a:t>  조찬희   기경현</a:t>
            </a:r>
            <a:endParaRPr lang="ko-KR" altLang="en-US" sz="13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05840" y="5358384"/>
            <a:ext cx="48463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b5cbdd"/>
                </a:solidFill>
                <a:latin typeface="맑은 고딕"/>
              </a:rPr>
              <a:t>웹 프레임워크 · 1주차 팀별 계획서</a:t>
            </a:r>
            <a:endParaRPr sz="1050" b="0">
              <a:solidFill>
                <a:srgbClr val="b5cbdd"/>
              </a:solidFill>
              <a:latin typeface="맑은 고딕"/>
            </a:endParaRPr>
          </a:p>
        </p:txBody>
      </p:sp>
      <p:sp>
        <p:nvSpPr>
          <p:cNvPr id="9" name="Oval 8"/>
          <p:cNvSpPr/>
          <p:nvPr/>
        </p:nvSpPr>
        <p:spPr>
          <a:xfrm>
            <a:off x="7315200" y="4434840"/>
            <a:ext cx="713232" cy="713232"/>
          </a:xfrm>
          <a:prstGeom prst="ellipse">
            <a:avLst/>
          </a:prstGeom>
          <a:solidFill>
            <a:srgbClr val="19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7315200" y="4645152"/>
            <a:ext cx="71323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수집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0" y="4645152"/>
            <a:ext cx="2834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a0b5c7"/>
                </a:solidFill>
                <a:latin typeface="맑은 고딕"/>
              </a:rPr>
              <a:t>→</a:t>
            </a:r>
            <a:endParaRPr sz="1200" b="1">
              <a:solidFill>
                <a:srgbClr val="a0b5c7"/>
              </a:solidFill>
              <a:latin typeface="맑은 고딕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8366760" y="4434840"/>
            <a:ext cx="713232" cy="713232"/>
          </a:xfrm>
          <a:prstGeom prst="ellipse">
            <a:avLst/>
          </a:prstGeom>
          <a:solidFill>
            <a:srgbClr val="1e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8366760" y="4645152"/>
            <a:ext cx="71323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검증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98280" y="4645152"/>
            <a:ext cx="2834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a0b5c7"/>
                </a:solidFill>
                <a:latin typeface="맑은 고딕"/>
              </a:rPr>
              <a:t>→</a:t>
            </a:r>
            <a:endParaRPr sz="1200" b="1">
              <a:solidFill>
                <a:srgbClr val="a0b5c7"/>
              </a:solidFill>
              <a:latin typeface="맑은 고딕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418320" y="4434840"/>
            <a:ext cx="713232" cy="713232"/>
          </a:xfrm>
          <a:prstGeom prst="ellipse">
            <a:avLst/>
          </a:prstGeom>
          <a:solidFill>
            <a:srgbClr val="f19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9418320" y="4645152"/>
            <a:ext cx="71323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탐지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149840" y="4645152"/>
            <a:ext cx="28346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200" b="1">
                <a:solidFill>
                  <a:srgbClr val="a0b5c7"/>
                </a:solidFill>
                <a:latin typeface="맑은 고딕"/>
              </a:rPr>
              <a:t>→</a:t>
            </a:r>
            <a:endParaRPr sz="1200" b="1">
              <a:solidFill>
                <a:srgbClr val="a0b5c7"/>
              </a:solidFill>
              <a:latin typeface="맑은 고딕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469880" y="4434840"/>
            <a:ext cx="713232" cy="71323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469880" y="4645152"/>
            <a:ext cx="713232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대응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제안요청서 이해 및 프로젝트 선정 목적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02</a:t>
            </a:r>
            <a:endParaRPr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657600" cy="4498848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31546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700" b="1">
                <a:solidFill>
                  <a:srgbClr val="196bb5"/>
                </a:solidFill>
                <a:latin typeface="맑은 고딕"/>
              </a:rPr>
              <a:t>발주 사업 핵심</a:t>
            </a:r>
            <a:endParaRPr sz="17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41248" y="2121408"/>
            <a:ext cx="3154680" cy="34290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lvl="0">
              <a:lnSpc>
                <a:spcPct val="105000"/>
              </a:lnSpc>
              <a:spcAft>
                <a:spcPts val="1200"/>
              </a:spcAft>
              <a:defRPr sz="14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사업명: 실시간 교통신호 상태정보 오류검지 시스템 구축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1200"/>
              </a:spcAft>
              <a:defRPr sz="14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배경: 통신 지연·신호기 오류로 실제 신호와 제공 정보가 불일치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1200"/>
              </a:spcAft>
              <a:defRPr sz="14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대상: 18개 지자체, 2,425개 교차로 연계 현황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1200"/>
              </a:spcAft>
              <a:defRPr sz="14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목표: 오류 조기 탐지와 실시간 신호정보 서비스 품질 향상</a:t>
            </a:r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68680" y="5577840"/>
            <a:ext cx="310896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출처: 제안요청서 사업 개요·기 구축사업 현황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63440" y="1554480"/>
            <a:ext cx="667512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000" b="1">
                <a:solidFill>
                  <a:srgbClr val="12263f"/>
                </a:solidFill>
                <a:latin typeface="맑은 고딕"/>
              </a:rPr>
              <a:t>선정 목적</a:t>
            </a:r>
            <a:endParaRPr sz="20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17720" y="2057400"/>
            <a:ext cx="6629400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800600" y="2231136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eb1be"/>
                </a:solidFill>
                <a:latin typeface="맑은 고딕"/>
              </a:rPr>
              <a:t>01</a:t>
            </a:r>
            <a:endParaRPr sz="11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22392" y="2176272"/>
            <a:ext cx="96012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500" b="1">
                <a:solidFill>
                  <a:srgbClr val="12263f"/>
                </a:solidFill>
                <a:latin typeface="맑은 고딕"/>
              </a:rPr>
              <a:t>현실성</a:t>
            </a:r>
            <a:endParaRPr sz="1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19088" y="2157984"/>
            <a:ext cx="4590288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공공 발주 요구사항을 분석해 실제 업무 문제를 해결하는 경험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617720" y="2999232"/>
            <a:ext cx="6629400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800600" y="3172968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eb1be"/>
                </a:solidFill>
                <a:latin typeface="맑은 고딕"/>
              </a:rPr>
              <a:t>02</a:t>
            </a:r>
            <a:endParaRPr sz="11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22392" y="3118104"/>
            <a:ext cx="96012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500" b="1">
                <a:solidFill>
                  <a:srgbClr val="12263f"/>
                </a:solidFill>
                <a:latin typeface="맑은 고딕"/>
              </a:rPr>
              <a:t>웹 적합성</a:t>
            </a:r>
            <a:endParaRPr sz="1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19088" y="3099816"/>
            <a:ext cx="4590288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실시간 대시보드·이슈 관리·통계 등 웹 프레임워크 역량을 종합 적용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617720" y="3941064"/>
            <a:ext cx="6629400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4800600" y="4114800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eb1be"/>
                </a:solidFill>
                <a:latin typeface="맑은 고딕"/>
              </a:rPr>
              <a:t>03</a:t>
            </a:r>
            <a:endParaRPr sz="11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22392" y="4059936"/>
            <a:ext cx="96012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500" b="1">
                <a:solidFill>
                  <a:srgbClr val="12263f"/>
                </a:solidFill>
                <a:latin typeface="맑은 고딕"/>
              </a:rPr>
              <a:t>학습성</a:t>
            </a:r>
            <a:endParaRPr sz="1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4041648"/>
            <a:ext cx="4590288" cy="45720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데이터 수집부터 검증·시각화·권한·테스트까지 전 개발 생명주기 경험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17720" y="4882896"/>
            <a:ext cx="6629400" cy="74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00600" y="5056632"/>
            <a:ext cx="5029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eb1be"/>
                </a:solidFill>
                <a:latin typeface="맑은 고딕"/>
              </a:rPr>
              <a:t>04</a:t>
            </a:r>
            <a:endParaRPr sz="11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22392" y="5001768"/>
            <a:ext cx="96012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500" b="1">
                <a:solidFill>
                  <a:srgbClr val="12263f"/>
                </a:solidFill>
                <a:latin typeface="맑은 고딕"/>
              </a:rPr>
              <a:t>확장성</a:t>
            </a:r>
            <a:endParaRPr sz="1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9088" y="5069586"/>
            <a:ext cx="4590288" cy="28117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향후 </a:t>
            </a:r>
            <a:r>
              <a:rPr lang="ko-KR" altLang="en-US" sz="1150" b="0">
                <a:solidFill>
                  <a:srgbClr val="1f2d3a"/>
                </a:solidFill>
                <a:latin typeface="맑은 고딕"/>
              </a:rPr>
              <a:t>전국</a:t>
            </a:r>
            <a:r>
              <a:rPr sz="1150" b="0">
                <a:solidFill>
                  <a:srgbClr val="1f2d3a"/>
                </a:solidFill>
                <a:latin typeface="맑은 고딕"/>
              </a:rPr>
              <a:t> 신호 연계, 고급 이상탐지, 지도 기반 관제로 확장 가능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프로젝트 명과 목적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03</a:t>
            </a:r>
            <a:endParaRPr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21792" y="1389888"/>
            <a:ext cx="10972800" cy="1051560"/>
          </a:xfrm>
          <a:prstGeom prst="roundRect">
            <a:avLst>
              <a:gd name="adj" fmla="val 16667"/>
            </a:avLst>
          </a:prstGeom>
          <a:solidFill>
            <a:srgbClr val="e1f2f9"/>
          </a:solidFill>
          <a:ln w="12700">
            <a:solidFill>
              <a:srgbClr val="e1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96112" y="1627632"/>
            <a:ext cx="103784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900" b="1">
                <a:solidFill>
                  <a:srgbClr val="12263f"/>
                </a:solidFill>
                <a:latin typeface="맑은 고딕"/>
              </a:rPr>
              <a:t>프로젝트 명  |  Signal Guard — 실시간 교통신호 상태정보 오류검지 시스템</a:t>
            </a:r>
            <a:endParaRPr sz="19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78440" cy="2712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※ 수업용 구현 범위는 </a:t>
            </a:r>
            <a:r>
              <a:rPr lang="ko-KR" altLang="en-US" sz="1050" b="0">
                <a:solidFill>
                  <a:srgbClr val="5b6a79"/>
                </a:solidFill>
                <a:latin typeface="맑은 고딕"/>
              </a:rPr>
              <a:t>인천시</a:t>
            </a:r>
            <a:r>
              <a:rPr sz="1050" b="0">
                <a:solidFill>
                  <a:srgbClr val="5b6a79"/>
                </a:solidFill>
                <a:latin typeface="맑은 고딕"/>
              </a:rPr>
              <a:t> 데이터로</a:t>
            </a:r>
            <a:r>
              <a:rPr lang="ko-KR" altLang="en-US" sz="1050" b="0">
                <a:solidFill>
                  <a:srgbClr val="5b6a79"/>
                </a:solidFill>
                <a:latin typeface="맑은 고딕"/>
              </a:rPr>
              <a:t> </a:t>
            </a:r>
            <a:r>
              <a:rPr sz="1050" b="0">
                <a:solidFill>
                  <a:srgbClr val="5b6a79"/>
                </a:solidFill>
                <a:latin typeface="맑은 고딕"/>
              </a:rPr>
              <a:t>검증 가능한 MVP를 구축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834640"/>
            <a:ext cx="1965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eb1be"/>
                </a:solidFill>
                <a:latin typeface="맑은 고딕"/>
              </a:rPr>
              <a:t>PROJECT PURPOSE</a:t>
            </a:r>
            <a:endParaRPr sz="11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3182112"/>
            <a:ext cx="534924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000" b="1">
                <a:solidFill>
                  <a:srgbClr val="12263f"/>
                </a:solidFill>
                <a:latin typeface="맑은 고딕"/>
              </a:rPr>
              <a:t>교차로별 신호 상태와 잔여시간 데이터를</a:t>
            </a:r>
            <a:endParaRPr sz="2000" b="1">
              <a:solidFill>
                <a:srgbClr val="12263f"/>
              </a:solidFill>
              <a:latin typeface="맑은 고딕"/>
            </a:endParaRPr>
          </a:p>
          <a:p>
            <a:pPr lvl="0" algn="l">
              <a:defRPr/>
            </a:pPr>
            <a:r>
              <a:rPr sz="2000" b="1">
                <a:solidFill>
                  <a:srgbClr val="12263f"/>
                </a:solidFill>
                <a:latin typeface="맑은 고딕"/>
              </a:rPr>
              <a:t>실시간으로 수집·검증하여 이상을 조기에 발견하고,</a:t>
            </a:r>
            <a:endParaRPr sz="2000" b="1">
              <a:solidFill>
                <a:srgbClr val="12263f"/>
              </a:solidFill>
              <a:latin typeface="맑은 고딕"/>
            </a:endParaRPr>
          </a:p>
          <a:p>
            <a:pPr lvl="0" algn="l">
              <a:defRPr/>
            </a:pPr>
            <a:r>
              <a:rPr sz="2000" b="1">
                <a:solidFill>
                  <a:srgbClr val="12263f"/>
                </a:solidFill>
                <a:latin typeface="맑은 고딕"/>
              </a:rPr>
              <a:t>운영자가 원인 확인부터 조치 이력까지 관리하게 한다.</a:t>
            </a:r>
            <a:endParaRPr sz="20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46520" y="2852928"/>
            <a:ext cx="4956048" cy="24140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675120" y="3099816"/>
            <a:ext cx="320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1">
                <a:solidFill>
                  <a:srgbClr val="196bb5"/>
                </a:solidFill>
                <a:latin typeface="맑은 고딕"/>
              </a:rPr>
              <a:t>①</a:t>
            </a:r>
            <a:endParaRPr sz="11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59168" y="3099816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12263f"/>
                </a:solidFill>
                <a:latin typeface="맑은 고딕"/>
              </a:rPr>
              <a:t>신뢰성</a:t>
            </a:r>
            <a:endParaRPr sz="12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45552" y="3099816"/>
            <a:ext cx="3182112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데이터 정합성·일관성 자동 검증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75120" y="3602736"/>
            <a:ext cx="320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1">
                <a:solidFill>
                  <a:srgbClr val="196bb5"/>
                </a:solidFill>
                <a:latin typeface="맑은 고딕"/>
              </a:rPr>
              <a:t>②</a:t>
            </a:r>
            <a:endParaRPr sz="11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59168" y="3602736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12263f"/>
                </a:solidFill>
                <a:latin typeface="맑은 고딕"/>
              </a:rPr>
              <a:t>가시성</a:t>
            </a:r>
            <a:endParaRPr sz="12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45552" y="3602736"/>
            <a:ext cx="3182112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실시간 상태·오류 통합 대시보드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675120" y="4105656"/>
            <a:ext cx="320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1">
                <a:solidFill>
                  <a:srgbClr val="196bb5"/>
                </a:solidFill>
                <a:latin typeface="맑은 고딕"/>
              </a:rPr>
              <a:t>③</a:t>
            </a:r>
            <a:endParaRPr sz="11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59168" y="4105656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12263f"/>
                </a:solidFill>
                <a:latin typeface="맑은 고딕"/>
              </a:rPr>
              <a:t>대응성</a:t>
            </a:r>
            <a:endParaRPr sz="12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45552" y="4105656"/>
            <a:ext cx="3182112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오류 이슈 등록·담당·처리 이력 관리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0" y="4608576"/>
            <a:ext cx="32004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1">
                <a:solidFill>
                  <a:srgbClr val="196bb5"/>
                </a:solidFill>
                <a:latin typeface="맑은 고딕"/>
              </a:rPr>
              <a:t>④</a:t>
            </a:r>
            <a:endParaRPr sz="11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59168" y="4608576"/>
            <a:ext cx="73152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200" b="1">
                <a:solidFill>
                  <a:srgbClr val="12263f"/>
                </a:solidFill>
                <a:latin typeface="맑은 고딕"/>
              </a:rPr>
              <a:t>활용성</a:t>
            </a:r>
            <a:endParaRPr sz="12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45552" y="4608576"/>
            <a:ext cx="3182112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기간·교차로별 통계와 보고 자료 제공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48691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lang="ko-KR" altLang="en-US" sz="2500" b="1">
                <a:solidFill>
                  <a:srgbClr val="12263f"/>
                </a:solidFill>
                <a:latin typeface="맑은 고딕"/>
              </a:rPr>
              <a:t>프로젝트 한계</a:t>
            </a:r>
            <a:endParaRPr lang="ko-KR" altLang="en-US"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4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66928" y="1921775"/>
            <a:ext cx="5644389" cy="3014448"/>
          </a:xfrm>
          <a:prstGeom prst="roundRect">
            <a:avLst>
              <a:gd name="adj" fmla="val 16667"/>
            </a:avLst>
          </a:prstGeom>
          <a:ln>
            <a:solidFill>
              <a:schemeClr val="dk1"/>
            </a:solidFill>
          </a:ln>
          <a:effectLst>
            <a:outerShdw blurRad="76200" dist="76200" dir="27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31" name="가로 글상자 30"/>
          <p:cNvSpPr txBox="1"/>
          <p:nvPr/>
        </p:nvSpPr>
        <p:spPr>
          <a:xfrm>
            <a:off x="2001497" y="5375115"/>
            <a:ext cx="2775250" cy="358537"/>
          </a:xfrm>
          <a:prstGeom prst="rect">
            <a:avLst/>
          </a:prstGeom>
        </p:spPr>
        <p:txBody>
          <a:bodyPr wrap="square">
            <a:spAutoFit/>
          </a:bodyPr>
          <a:p>
            <a:pPr lvl="0" algn="ctr">
              <a:defRPr/>
            </a:pPr>
            <a:r>
              <a:rPr lang="ko-KR" altLang="en-US"/>
              <a:t>일일 트래픽 </a:t>
            </a:r>
            <a:r>
              <a:rPr lang="en-US" altLang="ko-KR"/>
              <a:t>5,000</a:t>
            </a:r>
            <a:r>
              <a:rPr lang="ko-KR" altLang="en-US"/>
              <a:t>건 제한</a:t>
            </a:r>
            <a:endParaRPr lang="ko-KR" altLang="en-US"/>
          </a:p>
        </p:txBody>
      </p:sp>
      <p:sp>
        <p:nvSpPr>
          <p:cNvPr id="33" name="TextBox 7"/>
          <p:cNvSpPr txBox="1"/>
          <p:nvPr/>
        </p:nvSpPr>
        <p:spPr>
          <a:xfrm>
            <a:off x="6397642" y="3209544"/>
            <a:ext cx="38404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p>
            <a:pPr marL="0" lvl="0" indent="0" algn="ctr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sz="1800" b="1" i="0" u="none" strike="noStrike" kern="1200" cap="none" spc="0" normalizeH="0" baseline="0" mc:Ignorable="hp" hp:hslEmbossed="0">
                <a:solidFill>
                  <a:srgbClr val="5b6a79"/>
                </a:solidFill>
                <a:latin typeface="맑은 고딕"/>
              </a:rPr>
              <a:t>→</a:t>
            </a:r>
            <a:endParaRPr xmlns:mc="http://schemas.openxmlformats.org/markup-compatibility/2006" xmlns:hp="http://schemas.haansoft.com/office/presentation/8.0" kumimoji="0" sz="1800" b="1" i="0" u="none" strike="noStrike" kern="1200" cap="none" spc="0" normalizeH="0" baseline="0" mc:Ignorable="hp" hp:hslEmbossed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34" name="Rounded Rectangle 29"/>
          <p:cNvSpPr/>
          <p:nvPr/>
        </p:nvSpPr>
        <p:spPr>
          <a:xfrm>
            <a:off x="6915607" y="1921776"/>
            <a:ext cx="4532681" cy="3014448"/>
          </a:xfrm>
          <a:prstGeom prst="roundRect">
            <a:avLst>
              <a:gd name="adj" fmla="val 16667"/>
            </a:avLst>
          </a:prstGeom>
          <a:solidFill>
            <a:srgbClr val="ffffff">
              <a:alpha val="100000"/>
            </a:srgbClr>
          </a:solidFill>
          <a:ln w="12700" cap="flat" cmpd="sng" algn="ctr">
            <a:solidFill>
              <a:srgbClr val="e1e7ee">
                <a:alpha val="100000"/>
              </a:srgbClr>
            </a:solidFill>
            <a:prstDash val="solid"/>
          </a:ln>
          <a:effectLst>
            <a:outerShdw blurRad="40000" dist="23000" dir="5400000" rotWithShape="0">
              <a:srgbClr val="000000">
                <a:alpha val="34900"/>
              </a:srgbClr>
            </a:outerShdw>
          </a:effectLst>
        </p:spPr>
        <p:txBody>
          <a:bodyPr anchor="ctr"/>
          <a:p>
            <a:pPr lvl="0">
              <a:lnSpc>
                <a:spcPct val="105000"/>
              </a:lnSpc>
              <a:spcAft>
                <a:spcPts val="400"/>
              </a:spcAft>
              <a:defRPr/>
            </a:pPr>
            <a:r>
              <a:rPr lang="ko-KR" altLang="en-US" sz="1150"/>
              <a:t>•  </a:t>
            </a: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일정 간격 단일 배치 수집으로 일일 트래픽 소진 방지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  <a:p>
            <a:pPr lvl="0">
              <a:lnSpc>
                <a:spcPct val="105000"/>
              </a:lnSpc>
              <a:spcAft>
                <a:spcPts val="400"/>
              </a:spcAft>
              <a:defRPr/>
            </a:pPr>
            <a:r>
              <a:rPr lang="ko-KR" altLang="en-US" sz="1150"/>
              <a:t>•  </a:t>
            </a:r>
            <a:r>
              <a: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  <a:solidFill>
                  <a:schemeClr val="dk1"/>
                </a:solidFill>
                <a:latin typeface="Calibri"/>
                <a:ea typeface="맑은 고딕"/>
                <a:cs typeface="맑은 고딕"/>
              </a:rPr>
              <a:t>UI 보정 타이머로 잔여시간 데이터 공백 보완</a:t>
            </a:r>
            <a:endParaRPr xmlns:mc="http://schemas.openxmlformats.org/markup-compatibility/2006" xmlns:hp="http://schemas.haansoft.com/office/presentation/8.0" kumimoji="0" lang="ko-KR" altLang="en-US" sz="1150" b="0" i="0" u="none" strike="noStrike" kern="1200" cap="none" spc="0" normalizeH="0" baseline="0" mc:Ignorable="hp" hp:hslEmbossed="0">
              <a:solidFill>
                <a:schemeClr val="dk1"/>
              </a:solidFill>
              <a:latin typeface="Calibri"/>
              <a:ea typeface="맑은 고딕"/>
              <a:cs typeface="맑은 고딕"/>
            </a:endParaRPr>
          </a:p>
        </p:txBody>
      </p:sp>
      <p:sp>
        <p:nvSpPr>
          <p:cNvPr id="35" name="TextBox 30"/>
          <p:cNvSpPr txBox="1"/>
          <p:nvPr/>
        </p:nvSpPr>
        <p:spPr>
          <a:xfrm>
            <a:off x="7122953" y="2650361"/>
            <a:ext cx="4754880" cy="36308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p>
            <a:pPr marL="0" lvl="0" indent="0" algn="l" defTabSz="4572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  <a:solidFill>
                  <a:srgbClr val="12263f"/>
                </a:solidFill>
                <a:latin typeface="맑은 고딕"/>
              </a:rPr>
              <a:t>해결 방안</a:t>
            </a:r>
            <a:endParaRPr xmlns:mc="http://schemas.openxmlformats.org/markup-compatibility/2006" xmlns:hp="http://schemas.haansoft.com/office/presentation/8.0" kumimoji="0" lang="ko-KR" altLang="en-US" sz="1700" b="1" i="0" u="none" strike="noStrike" kern="1200" cap="none" spc="0" normalizeH="0" baseline="0" mc:Ignorable="hp" hp:hslEmbossed="0">
              <a:solidFill>
                <a:srgbClr val="12263f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팀 구성원 및 역할분담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담당자는 실제 팀 구성에 맞게 [입력] 부분 수정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5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508760"/>
          <a:ext cx="10881359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417320"/>
                <a:gridCol w="1874519"/>
                <a:gridCol w="3886200"/>
                <a:gridCol w="2468880"/>
              </a:tblGrid>
              <a:tr h="1051560"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12263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이름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12263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주 역할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12263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세부 담당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12263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</a:rPr>
                        <a:t>공동 책임</a:t>
                      </a:r>
                      <a:endParaRPr sz="1250" b="1">
                        <a:solidFill>
                          <a:srgbClr val="fffff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12263f"/>
                    </a:solidFill>
                  </a:tcPr>
                </a:tc>
              </a:tr>
              <a:tr h="1051560"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100" b="1">
                          <a:solidFill>
                            <a:srgbClr val="12263f"/>
                          </a:solidFill>
                          <a:latin typeface="맑은 고딕"/>
                        </a:rPr>
                        <a:t>팀장 / PM</a:t>
                      </a:r>
                      <a:endParaRPr sz="1100" b="1">
                        <a:solidFill>
                          <a:srgbClr val="12263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100" b="0">
                          <a:solidFill>
                            <a:srgbClr val="1f2d3a"/>
                          </a:solidFill>
                          <a:latin typeface="맑은 고딕"/>
                        </a:rPr>
                        <a:t>조찬희</a:t>
                      </a:r>
                      <a:endParaRPr lang="ko-KR" altLang="en-US" sz="1100" b="0">
                        <a:solidFill>
                          <a:srgbClr val="1f2d3a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100" b="1">
                          <a:solidFill>
                            <a:srgbClr val="12263f"/>
                          </a:solidFill>
                          <a:latin typeface="맑은 고딕"/>
                        </a:rPr>
                        <a:t>기획·프론트엔드</a:t>
                      </a:r>
                      <a:endParaRPr sz="1100" b="1">
                        <a:solidFill>
                          <a:srgbClr val="12263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l">
                        <a:spcAft>
                          <a:spcPts val="0"/>
                        </a:spcAft>
                        <a:defRPr/>
                      </a:pPr>
                      <a:r>
                        <a:rPr sz="1100" b="0">
                          <a:solidFill>
                            <a:srgbClr val="1f2d3a"/>
                          </a:solidFill>
                          <a:latin typeface="맑은 고딕"/>
                        </a:rPr>
                        <a:t>일정·요구사항·화면 설계, 대시보드·이슈·통계 UI, 발표·산출물 통합</a:t>
                      </a:r>
                      <a:endParaRPr sz="1100" b="0">
                        <a:solidFill>
                          <a:srgbClr val="1f2d3a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l">
                        <a:spcAft>
                          <a:spcPts val="0"/>
                        </a:spcAft>
                        <a:defRPr/>
                      </a:pPr>
                      <a:r>
                        <a:rPr sz="1100" b="0">
                          <a:solidFill>
                            <a:srgbClr val="1f2d3a"/>
                          </a:solidFill>
                          <a:latin typeface="맑은 고딕"/>
                        </a:rPr>
                        <a:t>코드리뷰·통합테스트·문서화</a:t>
                      </a:r>
                      <a:endParaRPr sz="1100" b="0">
                        <a:solidFill>
                          <a:srgbClr val="1f2d3a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100" b="1">
                          <a:solidFill>
                            <a:srgbClr val="12263f"/>
                          </a:solidFill>
                          <a:latin typeface="맑은 고딕"/>
                        </a:rPr>
                        <a:t>팀원</a:t>
                      </a:r>
                      <a:endParaRPr sz="1100" b="1">
                        <a:solidFill>
                          <a:srgbClr val="12263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lang="ko-KR" altLang="en-US" sz="1100" b="0">
                          <a:solidFill>
                            <a:srgbClr val="1f2d3a"/>
                          </a:solidFill>
                          <a:latin typeface="맑은 고딕"/>
                        </a:rPr>
                        <a:t>기경현</a:t>
                      </a:r>
                      <a:endParaRPr lang="ko-KR" altLang="en-US" sz="1100" b="0">
                        <a:solidFill>
                          <a:srgbClr val="1f2d3a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ctr">
                        <a:spcAft>
                          <a:spcPts val="0"/>
                        </a:spcAft>
                        <a:defRPr/>
                      </a:pPr>
                      <a:r>
                        <a:rPr sz="1100" b="1">
                          <a:solidFill>
                            <a:srgbClr val="12263f"/>
                          </a:solidFill>
                          <a:latin typeface="맑은 고딕"/>
                        </a:rPr>
                        <a:t>백엔드·데이터</a:t>
                      </a:r>
                      <a:endParaRPr sz="1100" b="1">
                        <a:solidFill>
                          <a:srgbClr val="12263f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l">
                        <a:spcAft>
                          <a:spcPts val="0"/>
                        </a:spcAft>
                        <a:defRPr/>
                      </a:pPr>
                      <a:r>
                        <a:rPr sz="1100" b="0">
                          <a:solidFill>
                            <a:srgbClr val="1f2d3a"/>
                          </a:solidFill>
                          <a:latin typeface="맑은 고딕"/>
                        </a:rPr>
                        <a:t>수집 API, 검증 규칙 엔진, DB, 인증·권한·배포</a:t>
                      </a:r>
                      <a:endParaRPr sz="1100" b="0">
                        <a:solidFill>
                          <a:srgbClr val="1f2d3a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5f8fb"/>
                    </a:solidFill>
                  </a:tcPr>
                </a:tc>
                <a:tc>
                  <a:txBody>
                    <a:bodyPr vert="horz" lIns="36576" tIns="27432" rIns="36576" bIns="27432" anchor="ctr" anchorCtr="0"/>
                    <a:p>
                      <a:pPr lvl="0" algn="l">
                        <a:spcAft>
                          <a:spcPts val="0"/>
                        </a:spcAft>
                        <a:defRPr/>
                      </a:pPr>
                      <a:r>
                        <a:rPr sz="1100" b="0">
                          <a:solidFill>
                            <a:srgbClr val="1f2d3a"/>
                          </a:solidFill>
                          <a:latin typeface="맑은 고딕"/>
                        </a:rPr>
                        <a:t>코드리뷰·통합테스트·문서화</a:t>
                      </a:r>
                      <a:endParaRPr sz="1100" b="0">
                        <a:solidFill>
                          <a:srgbClr val="1f2d3a"/>
                        </a:solidFill>
                        <a:latin typeface="맑은 고딕"/>
                      </a:endParaRPr>
                    </a:p>
                  </a:txBody>
                  <a:tcPr marL="36576" marR="36576" marT="27432" marB="27432" anchor="ctr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983480"/>
            <a:ext cx="10881360" cy="804672"/>
          </a:xfrm>
          <a:prstGeom prst="roundRect">
            <a:avLst>
              <a:gd name="adj" fmla="val 16667"/>
            </a:avLst>
          </a:prstGeom>
          <a:solidFill>
            <a:srgbClr val="e1f2f9"/>
          </a:solidFill>
          <a:ln w="12700">
            <a:solidFill>
              <a:srgbClr val="e1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914400" y="5202936"/>
            <a:ext cx="1874519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400" b="1">
                <a:solidFill>
                  <a:srgbClr val="196bb5"/>
                </a:solidFill>
                <a:latin typeface="맑은 고딕"/>
              </a:rPr>
              <a:t>협업 원칙</a:t>
            </a:r>
            <a:endParaRPr sz="14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51760" y="5148072"/>
            <a:ext cx="8458200" cy="34747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50" b="0">
                <a:solidFill>
                  <a:srgbClr val="1f2d3a"/>
                </a:solidFill>
                <a:latin typeface="맑은 고딕"/>
              </a:rPr>
              <a:t>Git 기능 브랜치 · Pull Request 상호 리뷰 · 주 1회 스프린트 점검 · 문서/코드 담당자 교차 검수</a:t>
            </a:r>
            <a:endParaRPr sz="12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프로젝트 주요 기능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6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3474720" cy="17647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Rounded Rectangle 6"/>
          <p:cNvSpPr/>
          <p:nvPr/>
        </p:nvSpPr>
        <p:spPr>
          <a:xfrm>
            <a:off x="822959" y="1682496"/>
            <a:ext cx="548640" cy="438912"/>
          </a:xfrm>
          <a:prstGeom prst="roundRect">
            <a:avLst>
              <a:gd name="adj" fmla="val 16667"/>
            </a:avLst>
          </a:prstGeom>
          <a:solidFill>
            <a:srgbClr val="196bb5"/>
          </a:solidFill>
          <a:ln w="12700">
            <a:solidFill>
              <a:srgbClr val="19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22959" y="1801368"/>
            <a:ext cx="54864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01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08760" y="1700784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12263f"/>
                </a:solidFill>
                <a:latin typeface="맑은 고딕"/>
              </a:rPr>
              <a:t>데이터 수집·변환</a:t>
            </a:r>
            <a:endParaRPr sz="16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2980944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신호 상태·잔여시간 데이터 수신</a:t>
            </a:r>
            <a:endParaRPr sz="1200" b="0">
              <a:solidFill>
                <a:srgbClr val="1f2d3a"/>
              </a:solidFill>
              <a:latin typeface="맑은 고딕"/>
            </a:endParaRPr>
          </a:p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표준 JSON 포맷 변환·저장</a:t>
            </a:r>
            <a:endParaRPr sz="12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1481328"/>
            <a:ext cx="3474720" cy="17647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4663440" y="1682496"/>
            <a:ext cx="548640" cy="438912"/>
          </a:xfrm>
          <a:prstGeom prst="roundRect">
            <a:avLst>
              <a:gd name="adj" fmla="val 16667"/>
            </a:avLst>
          </a:prstGeom>
          <a:solidFill>
            <a:srgbClr val="1eb1be"/>
          </a:solidFill>
          <a:ln w="12700">
            <a:solidFill>
              <a:srgbClr val="1e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4663440" y="1801368"/>
            <a:ext cx="54864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02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49240" y="1700784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12263f"/>
                </a:solidFill>
                <a:latin typeface="맑은 고딕"/>
              </a:rPr>
              <a:t>검증 규칙 엔진</a:t>
            </a:r>
            <a:endParaRPr sz="16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9160" y="2313432"/>
            <a:ext cx="2980944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누락·범위·순서·시간 역행·</a:t>
            </a:r>
            <a:endParaRPr sz="1200" b="0">
              <a:solidFill>
                <a:srgbClr val="1f2d3a"/>
              </a:solidFill>
              <a:latin typeface="맑은 고딕"/>
            </a:endParaRPr>
          </a:p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급변 등 정합성/일관성 검증</a:t>
            </a:r>
            <a:endParaRPr sz="12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321040" y="1481328"/>
            <a:ext cx="3474720" cy="17647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7" name="Rounded Rectangle 16"/>
          <p:cNvSpPr/>
          <p:nvPr/>
        </p:nvSpPr>
        <p:spPr>
          <a:xfrm>
            <a:off x="8503919" y="1682496"/>
            <a:ext cx="548640" cy="438912"/>
          </a:xfrm>
          <a:prstGeom prst="roundRect">
            <a:avLst>
              <a:gd name="adj" fmla="val 16667"/>
            </a:avLst>
          </a:prstGeom>
          <a:solidFill>
            <a:srgbClr val="299d70"/>
          </a:solidFill>
          <a:ln w="12700">
            <a:solidFill>
              <a:srgbClr val="299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8503919" y="1801368"/>
            <a:ext cx="54864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03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89719" y="1700784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12263f"/>
                </a:solidFill>
                <a:latin typeface="맑은 고딕"/>
              </a:rPr>
              <a:t>실시간 모니터링</a:t>
            </a:r>
            <a:endParaRPr sz="16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49640" y="2313432"/>
            <a:ext cx="2980944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교차로 상태, 수신 지연,</a:t>
            </a:r>
            <a:endParaRPr sz="1200" b="0">
              <a:solidFill>
                <a:srgbClr val="1f2d3a"/>
              </a:solidFill>
              <a:latin typeface="맑은 고딕"/>
            </a:endParaRPr>
          </a:p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오류 등급을 한눈에 표시</a:t>
            </a:r>
            <a:endParaRPr sz="12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621024"/>
            <a:ext cx="3474720" cy="17647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Rounded Rectangle 21"/>
          <p:cNvSpPr/>
          <p:nvPr/>
        </p:nvSpPr>
        <p:spPr>
          <a:xfrm>
            <a:off x="822959" y="3822191"/>
            <a:ext cx="548640" cy="438912"/>
          </a:xfrm>
          <a:prstGeom prst="roundRect">
            <a:avLst>
              <a:gd name="adj" fmla="val 16667"/>
            </a:avLst>
          </a:prstGeom>
          <a:solidFill>
            <a:srgbClr val="f19238"/>
          </a:solidFill>
          <a:ln w="12700">
            <a:solidFill>
              <a:srgbClr val="f1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22959" y="3941063"/>
            <a:ext cx="54864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04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08760" y="3840480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12263f"/>
                </a:solidFill>
                <a:latin typeface="맑은 고딕"/>
              </a:rPr>
              <a:t>오류 알림·조회</a:t>
            </a:r>
            <a:endParaRPr sz="16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4453128"/>
            <a:ext cx="2980944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발생 내역 실시간 반영</a:t>
            </a:r>
            <a:endParaRPr sz="1200" b="0">
              <a:solidFill>
                <a:srgbClr val="1f2d3a"/>
              </a:solidFill>
              <a:latin typeface="맑은 고딕"/>
            </a:endParaRPr>
          </a:p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유형·기간·교차로별 검색</a:t>
            </a:r>
            <a:endParaRPr sz="12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480560" y="3621024"/>
            <a:ext cx="3474720" cy="17647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7" name="Rounded Rectangle 26"/>
          <p:cNvSpPr/>
          <p:nvPr/>
        </p:nvSpPr>
        <p:spPr>
          <a:xfrm>
            <a:off x="4663440" y="3822191"/>
            <a:ext cx="548640" cy="438912"/>
          </a:xfrm>
          <a:prstGeom prst="roundRect">
            <a:avLst>
              <a:gd name="adj" fmla="val 16667"/>
            </a:avLst>
          </a:prstGeom>
          <a:solidFill>
            <a:srgbClr val="dd4d49"/>
          </a:solidFill>
          <a:ln w="12700">
            <a:solidFill>
              <a:srgbClr val="dd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4663440" y="3941063"/>
            <a:ext cx="54864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05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349240" y="3840480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12263f"/>
                </a:solidFill>
                <a:latin typeface="맑은 고딕"/>
              </a:rPr>
              <a:t>이슈 관리</a:t>
            </a:r>
            <a:endParaRPr sz="16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709160" y="4453128"/>
            <a:ext cx="2980944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오류 등록, 담당자 배정,</a:t>
            </a:r>
            <a:endParaRPr sz="1200" b="0">
              <a:solidFill>
                <a:srgbClr val="1f2d3a"/>
              </a:solidFill>
              <a:latin typeface="맑은 고딕"/>
            </a:endParaRPr>
          </a:p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상태·원인·조치 이력 관리</a:t>
            </a:r>
            <a:endParaRPr sz="12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321040" y="3621024"/>
            <a:ext cx="3474720" cy="176479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Rounded Rectangle 31"/>
          <p:cNvSpPr/>
          <p:nvPr/>
        </p:nvSpPr>
        <p:spPr>
          <a:xfrm>
            <a:off x="8503919" y="3822191"/>
            <a:ext cx="548640" cy="438912"/>
          </a:xfrm>
          <a:prstGeom prst="roundRect">
            <a:avLst>
              <a:gd name="adj" fmla="val 16667"/>
            </a:avLst>
          </a:prstGeom>
          <a:solidFill>
            <a:srgbClr val="12263f"/>
          </a:solidFill>
          <a:ln w="12700"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8503919" y="3941063"/>
            <a:ext cx="548640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06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89719" y="3840480"/>
            <a:ext cx="22860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00" b="1">
                <a:solidFill>
                  <a:srgbClr val="12263f"/>
                </a:solidFill>
                <a:latin typeface="맑은 고딕"/>
              </a:rPr>
              <a:t>통계·권한</a:t>
            </a:r>
            <a:endParaRPr sz="16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549640" y="4453128"/>
            <a:ext cx="2980944" cy="621792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오류율·추이 통계/내보내기</a:t>
            </a:r>
            <a:endParaRPr sz="1200" b="0">
              <a:solidFill>
                <a:srgbClr val="1f2d3a"/>
              </a:solidFill>
              <a:latin typeface="맑은 고딕"/>
            </a:endParaRPr>
          </a:p>
          <a:p>
            <a:pPr lvl="0" algn="l">
              <a:defRPr/>
            </a:pPr>
            <a:r>
              <a:rPr sz="1200" b="0">
                <a:solidFill>
                  <a:srgbClr val="1f2d3a"/>
                </a:solidFill>
                <a:latin typeface="맑은 고딕"/>
              </a:rPr>
              <a:t>관리자·운영자 권한 분리</a:t>
            </a:r>
            <a:endParaRPr sz="12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서비스 흐름 및 개발 구성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웹 프레임워크 중심의 구현 가능한 MVP 아키텍처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7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856231" cy="960120"/>
          </a:xfrm>
          <a:prstGeom prst="roundRect">
            <a:avLst>
              <a:gd name="adj" fmla="val 16667"/>
            </a:avLst>
          </a:prstGeom>
          <a:solidFill>
            <a:srgbClr val="196bb5"/>
          </a:solidFill>
          <a:ln w="12700">
            <a:solidFill>
              <a:srgbClr val="19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40079" y="1893951"/>
            <a:ext cx="1709928" cy="30975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ctr">
              <a:defRPr/>
            </a:pPr>
            <a:r>
              <a:rPr lang="en-US" altLang="ko-KR" sz="1300" b="1">
                <a:solidFill>
                  <a:srgbClr val="ffffff"/>
                </a:solidFill>
                <a:latin typeface="맑은 고딕"/>
              </a:rPr>
              <a:t>API</a:t>
            </a:r>
            <a:r>
              <a:rPr lang="ko-KR" altLang="en-US" sz="1300" b="1">
                <a:solidFill>
                  <a:srgbClr val="ffffff"/>
                </a:solidFill>
                <a:latin typeface="맑은 고딕"/>
              </a:rPr>
              <a:t> 데이터</a:t>
            </a:r>
            <a:endParaRPr lang="ko-KR" altLang="en-US" sz="13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50592" y="1901952"/>
            <a:ext cx="38404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800" b="1">
                <a:solidFill>
                  <a:srgbClr val="5b6a79"/>
                </a:solidFill>
                <a:latin typeface="맑은 고딕"/>
              </a:rPr>
              <a:t>→</a:t>
            </a:r>
            <a:endParaRPr sz="1800" b="1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9504" y="1572768"/>
            <a:ext cx="1856231" cy="960120"/>
          </a:xfrm>
          <a:prstGeom prst="roundRect">
            <a:avLst>
              <a:gd name="adj" fmla="val 16667"/>
            </a:avLst>
          </a:prstGeom>
          <a:solidFill>
            <a:srgbClr val="1eb1be"/>
          </a:solidFill>
          <a:ln w="12700">
            <a:solidFill>
              <a:srgbClr val="1e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962655" y="1893951"/>
            <a:ext cx="1709928" cy="309753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수집 </a:t>
            </a:r>
            <a:r>
              <a:rPr lang="ko-KR" altLang="en-US" sz="1300" b="1">
                <a:solidFill>
                  <a:srgbClr val="ffffff"/>
                </a:solidFill>
                <a:latin typeface="맑은 고딕"/>
              </a:rPr>
              <a:t>스케줄러</a:t>
            </a:r>
            <a:endParaRPr lang="ko-KR" altLang="en-US" sz="13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73168" y="1901952"/>
            <a:ext cx="38404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800" b="1">
                <a:solidFill>
                  <a:srgbClr val="5b6a79"/>
                </a:solidFill>
                <a:latin typeface="맑은 고딕"/>
              </a:rPr>
              <a:t>→</a:t>
            </a:r>
            <a:endParaRPr sz="1800" b="1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12080" y="1572768"/>
            <a:ext cx="1856231" cy="960120"/>
          </a:xfrm>
          <a:prstGeom prst="roundRect">
            <a:avLst>
              <a:gd name="adj" fmla="val 16667"/>
            </a:avLst>
          </a:prstGeom>
          <a:solidFill>
            <a:srgbClr val="f19238"/>
          </a:solidFill>
          <a:ln w="12700">
            <a:solidFill>
              <a:srgbClr val="f1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285232" y="1819656"/>
            <a:ext cx="17099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검증 규칙</a:t>
            </a:r>
            <a:endParaRPr sz="1300" b="1">
              <a:solidFill>
                <a:srgbClr val="ffffff"/>
              </a:solidFill>
              <a:latin typeface="맑은 고딕"/>
            </a:endParaRPr>
          </a:p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엔진</a:t>
            </a:r>
            <a:endParaRPr sz="13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95744" y="1901952"/>
            <a:ext cx="38404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800" b="1">
                <a:solidFill>
                  <a:srgbClr val="5b6a79"/>
                </a:solidFill>
                <a:latin typeface="맑은 고딕"/>
              </a:rPr>
              <a:t>→</a:t>
            </a:r>
            <a:endParaRPr sz="1800" b="1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534656" y="1572768"/>
            <a:ext cx="1856231" cy="960120"/>
          </a:xfrm>
          <a:prstGeom prst="roundRect">
            <a:avLst>
              <a:gd name="adj" fmla="val 16667"/>
            </a:avLst>
          </a:prstGeom>
          <a:solidFill>
            <a:srgbClr val="299d70"/>
          </a:solidFill>
          <a:ln w="12700">
            <a:solidFill>
              <a:srgbClr val="299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607808" y="1819656"/>
            <a:ext cx="17099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관계형 DB</a:t>
            </a:r>
            <a:endParaRPr sz="1300" b="1">
              <a:solidFill>
                <a:srgbClr val="ffffff"/>
              </a:solidFill>
              <a:latin typeface="맑은 고딕"/>
            </a:endParaRPr>
          </a:p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이력 저장</a:t>
            </a:r>
            <a:endParaRPr sz="13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18320" y="1901952"/>
            <a:ext cx="384048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800" b="1">
                <a:solidFill>
                  <a:srgbClr val="5b6a79"/>
                </a:solidFill>
                <a:latin typeface="맑은 고딕"/>
              </a:rPr>
              <a:t>→</a:t>
            </a:r>
            <a:endParaRPr sz="1800" b="1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857232" y="1572768"/>
            <a:ext cx="1856231" cy="960120"/>
          </a:xfrm>
          <a:prstGeom prst="roundRect">
            <a:avLst>
              <a:gd name="adj" fmla="val 16667"/>
            </a:avLst>
          </a:prstGeom>
          <a:solidFill>
            <a:srgbClr val="12263f"/>
          </a:solidFill>
          <a:ln w="12700"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930384" y="1819656"/>
            <a:ext cx="1709928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웹 대시보드</a:t>
            </a:r>
            <a:endParaRPr sz="1300" b="1">
              <a:solidFill>
                <a:srgbClr val="ffffff"/>
              </a:solidFill>
              <a:latin typeface="맑은 고딕"/>
            </a:endParaRPr>
          </a:p>
          <a:p>
            <a:pPr lvl="0" algn="ctr">
              <a:defRPr/>
            </a:pPr>
            <a:r>
              <a:rPr sz="1300" b="1">
                <a:solidFill>
                  <a:srgbClr val="ffffff"/>
                </a:solidFill>
                <a:latin typeface="맑은 고딕"/>
              </a:rPr>
              <a:t>이슈 관리</a:t>
            </a:r>
            <a:endParaRPr sz="13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1792" y="3026664"/>
            <a:ext cx="5394960" cy="2185416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96112" y="3291840"/>
            <a:ext cx="47548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700" b="1">
                <a:solidFill>
                  <a:srgbClr val="12263f"/>
                </a:solidFill>
                <a:latin typeface="맑은 고딕"/>
              </a:rPr>
              <a:t>권장 기술 스택</a:t>
            </a:r>
            <a:endParaRPr sz="17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14400" y="3758184"/>
            <a:ext cx="960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96bb5"/>
                </a:solidFill>
                <a:latin typeface="맑은 고딕"/>
              </a:rPr>
              <a:t>Frontend</a:t>
            </a:r>
            <a:endParaRPr sz="10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847088" y="3758184"/>
            <a:ext cx="3611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1f2d3a"/>
                </a:solidFill>
                <a:latin typeface="맑은 고딕"/>
              </a:rPr>
              <a:t>React 또는 Vue · Chart.js · WebSocket</a:t>
            </a:r>
            <a:endParaRPr sz="10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4400" y="4087368"/>
            <a:ext cx="960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96bb5"/>
                </a:solidFill>
                <a:latin typeface="맑은 고딕"/>
              </a:rPr>
              <a:t>Backend</a:t>
            </a:r>
            <a:endParaRPr sz="10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47088" y="4087368"/>
            <a:ext cx="361188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1f2d3a"/>
                </a:solidFill>
                <a:latin typeface="맑은 고딕"/>
              </a:rPr>
              <a:t>Spring Boot 또는 Node.js · REST API</a:t>
            </a:r>
            <a:endParaRPr sz="10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14400" y="4416552"/>
            <a:ext cx="960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96bb5"/>
                </a:solidFill>
                <a:latin typeface="맑은 고딕"/>
              </a:rPr>
              <a:t>Data</a:t>
            </a:r>
            <a:endParaRPr sz="10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47088" y="4416552"/>
            <a:ext cx="3611880" cy="26746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1f2d3a"/>
                </a:solidFill>
                <a:latin typeface="맑은 고딕"/>
              </a:rPr>
              <a:t>PostgreSQL</a:t>
            </a:r>
            <a:endParaRPr sz="10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14400" y="4745736"/>
            <a:ext cx="96012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96bb5"/>
                </a:solidFill>
                <a:latin typeface="맑은 고딕"/>
              </a:rPr>
              <a:t>DevOps</a:t>
            </a:r>
            <a:endParaRPr sz="10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47088" y="4745736"/>
            <a:ext cx="3611880" cy="27165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1f2d3a"/>
                </a:solidFill>
                <a:latin typeface="맑은 고딕"/>
              </a:rPr>
              <a:t>Git/GitHub · Docker</a:t>
            </a:r>
            <a:endParaRPr sz="10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291072" y="3026664"/>
            <a:ext cx="5276088" cy="218541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6565392" y="3291840"/>
            <a:ext cx="475488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700" b="1">
                <a:solidFill>
                  <a:srgbClr val="12263f"/>
                </a:solidFill>
                <a:latin typeface="맑은 고딕"/>
              </a:rPr>
              <a:t>핵심 검증 규칙 예시</a:t>
            </a:r>
            <a:endParaRPr sz="17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65392" y="3685032"/>
            <a:ext cx="4590288" cy="128016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lvl="0"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필수 필드 누락·허용 범위 초과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현시 순서 위반·잔여시간 증가/급변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수신 주기 지연·중복 데이터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400"/>
              </a:spcAft>
              <a:defRPr sz="115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교차로 운영상태와 신호 상태 불일치</a:t>
            </a:r>
            <a:endParaRPr lang="ko-KR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15주 개발계획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분석 → 설계 → 구현 → 테스트 → 안정화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8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12648" y="1353312"/>
            <a:ext cx="1508760" cy="749808"/>
          </a:xfrm>
          <a:prstGeom prst="roundRect">
            <a:avLst>
              <a:gd name="adj" fmla="val 16667"/>
            </a:avLst>
          </a:prstGeom>
          <a:solidFill>
            <a:srgbClr val="196bb5"/>
          </a:solidFill>
          <a:ln w="12700">
            <a:solidFill>
              <a:srgbClr val="19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85800" y="144475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분석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1362456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50" b="0">
                <a:solidFill>
                  <a:srgbClr val="ffffff"/>
                </a:solidFill>
                <a:latin typeface="맑은 고딕"/>
              </a:rPr>
              <a:t>1–3주</a:t>
            </a:r>
            <a:endParaRPr sz="95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12848" y="1353312"/>
            <a:ext cx="1508760" cy="749808"/>
          </a:xfrm>
          <a:prstGeom prst="roundRect">
            <a:avLst>
              <a:gd name="adj" fmla="val 16667"/>
            </a:avLst>
          </a:prstGeom>
          <a:solidFill>
            <a:srgbClr val="1eb1be"/>
          </a:solidFill>
          <a:ln w="12700">
            <a:solidFill>
              <a:srgbClr val="1e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286000" y="1444752"/>
            <a:ext cx="1362456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설계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86000" y="1755648"/>
            <a:ext cx="1362456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50" b="0">
                <a:solidFill>
                  <a:srgbClr val="ffffff"/>
                </a:solidFill>
                <a:latin typeface="맑은 고딕"/>
              </a:rPr>
              <a:t>4–5주</a:t>
            </a:r>
            <a:endParaRPr sz="95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3813048" y="1353312"/>
            <a:ext cx="3767328" cy="749808"/>
          </a:xfrm>
          <a:prstGeom prst="roundRect">
            <a:avLst>
              <a:gd name="adj" fmla="val 16667"/>
            </a:avLst>
          </a:prstGeom>
          <a:solidFill>
            <a:srgbClr val="299d70"/>
          </a:solidFill>
          <a:ln w="12700">
            <a:solidFill>
              <a:srgbClr val="299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3886200" y="1444752"/>
            <a:ext cx="3621024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구현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86200" y="1755648"/>
            <a:ext cx="362102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50" b="0">
                <a:solidFill>
                  <a:srgbClr val="ffffff"/>
                </a:solidFill>
                <a:latin typeface="맑은 고딕"/>
              </a:rPr>
              <a:t>6–11주</a:t>
            </a:r>
            <a:endParaRPr sz="95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671816" y="1353312"/>
            <a:ext cx="2331720" cy="749808"/>
          </a:xfrm>
          <a:prstGeom prst="roundRect">
            <a:avLst>
              <a:gd name="adj" fmla="val 16667"/>
            </a:avLst>
          </a:prstGeom>
          <a:solidFill>
            <a:srgbClr val="f19238"/>
          </a:solidFill>
          <a:ln w="12700">
            <a:solidFill>
              <a:srgbClr val="f1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7744968" y="1444752"/>
            <a:ext cx="2185415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테스트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44968" y="1755648"/>
            <a:ext cx="2185415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50" b="0">
                <a:solidFill>
                  <a:srgbClr val="ffffff"/>
                </a:solidFill>
                <a:latin typeface="맑은 고딕"/>
              </a:rPr>
              <a:t>12–13주</a:t>
            </a:r>
            <a:endParaRPr sz="95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094976" y="1353312"/>
            <a:ext cx="1481328" cy="749808"/>
          </a:xfrm>
          <a:prstGeom prst="roundRect">
            <a:avLst>
              <a:gd name="adj" fmla="val 16667"/>
            </a:avLst>
          </a:prstGeom>
          <a:solidFill>
            <a:srgbClr val="12263f"/>
          </a:solidFill>
          <a:ln w="12700"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0168128" y="1444752"/>
            <a:ext cx="1335024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400" b="1">
                <a:solidFill>
                  <a:srgbClr val="ffffff"/>
                </a:solidFill>
                <a:latin typeface="맑은 고딕"/>
              </a:rPr>
              <a:t>안정화</a:t>
            </a:r>
            <a:endParaRPr sz="14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168128" y="1755648"/>
            <a:ext cx="1335024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50" b="0">
                <a:solidFill>
                  <a:srgbClr val="ffffff"/>
                </a:solidFill>
                <a:latin typeface="맑은 고딕"/>
              </a:rPr>
              <a:t>14–15주</a:t>
            </a:r>
            <a:endParaRPr sz="95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13232" y="2414016"/>
            <a:ext cx="347472" cy="347472"/>
          </a:xfrm>
          <a:prstGeom prst="ellipse">
            <a:avLst/>
          </a:prstGeom>
          <a:solidFill>
            <a:srgbClr val="19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713232" y="2496312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0432" y="2450592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RFP 분석·범위 정의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713232" y="2889504"/>
            <a:ext cx="347472" cy="347472"/>
          </a:xfrm>
          <a:prstGeom prst="ellipse">
            <a:avLst/>
          </a:prstGeom>
          <a:solidFill>
            <a:srgbClr val="19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713232" y="2971800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2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70432" y="2926080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사용자·요구사항 도출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713232" y="3364992"/>
            <a:ext cx="347472" cy="347472"/>
          </a:xfrm>
          <a:prstGeom prst="ellipse">
            <a:avLst/>
          </a:prstGeom>
          <a:solidFill>
            <a:srgbClr val="196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713232" y="3447288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3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70432" y="3401568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유스케이스·백로그 확정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13232" y="3840480"/>
            <a:ext cx="347472" cy="347472"/>
          </a:xfrm>
          <a:prstGeom prst="ellipse">
            <a:avLst/>
          </a:prstGeom>
          <a:solidFill>
            <a:srgbClr val="1e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713232" y="3922776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4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170432" y="3877056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화면·UX·아키텍처 설계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713232" y="4315968"/>
            <a:ext cx="347472" cy="347472"/>
          </a:xfrm>
          <a:prstGeom prst="ellipse">
            <a:avLst/>
          </a:prstGeom>
          <a:solidFill>
            <a:srgbClr val="1eb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713232" y="4398264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5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170432" y="4352544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DB·API·검증 규칙 설계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713232" y="4791456"/>
            <a:ext cx="347472" cy="34747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713232" y="4873752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6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70432" y="4828032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개발환경·인증·공통 기능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713232" y="5266944"/>
            <a:ext cx="347472" cy="34747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0" name="TextBox 39"/>
          <p:cNvSpPr txBox="1"/>
          <p:nvPr/>
        </p:nvSpPr>
        <p:spPr>
          <a:xfrm>
            <a:off x="713232" y="5349240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7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170432" y="5303520"/>
            <a:ext cx="4480560" cy="2758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데이터 수집 API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713232" y="5742432"/>
            <a:ext cx="347472" cy="34747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TextBox 42"/>
          <p:cNvSpPr txBox="1"/>
          <p:nvPr/>
        </p:nvSpPr>
        <p:spPr>
          <a:xfrm>
            <a:off x="713232" y="5824728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8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70432" y="5779008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저장·조회·검증 엔진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6355080" y="2414016"/>
            <a:ext cx="347472" cy="34747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6" name="TextBox 45"/>
          <p:cNvSpPr txBox="1"/>
          <p:nvPr/>
        </p:nvSpPr>
        <p:spPr>
          <a:xfrm>
            <a:off x="6355080" y="2496312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9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12280" y="2450592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실시간 대시보드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6355080" y="2889504"/>
            <a:ext cx="347472" cy="34747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6355080" y="2971800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10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812280" y="2926080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오류 조회·이슈 관리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355080" y="3364992"/>
            <a:ext cx="347472" cy="347472"/>
          </a:xfrm>
          <a:prstGeom prst="ellipse">
            <a:avLst/>
          </a:prstGeom>
          <a:solidFill>
            <a:srgbClr val="299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6355080" y="3447288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11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812280" y="3401568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통계·권한·기능 통합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355080" y="3840480"/>
            <a:ext cx="347472" cy="347472"/>
          </a:xfrm>
          <a:prstGeom prst="ellipse">
            <a:avLst/>
          </a:prstGeom>
          <a:solidFill>
            <a:srgbClr val="f19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6355080" y="3922776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12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6812280" y="3877056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단위·통합·API 테스트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6355080" y="4315968"/>
            <a:ext cx="347472" cy="347472"/>
          </a:xfrm>
          <a:prstGeom prst="ellipse">
            <a:avLst/>
          </a:prstGeom>
          <a:solidFill>
            <a:srgbClr val="f19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6355080" y="4398264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13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812280" y="4352544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성능·보안·사용성 테스트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6355080" y="4791456"/>
            <a:ext cx="347472" cy="347472"/>
          </a:xfrm>
          <a:prstGeom prst="ellipse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6355080" y="4873752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14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812280" y="4828032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결함 수정·배포·매뉴얼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6355080" y="5266944"/>
            <a:ext cx="347472" cy="347472"/>
          </a:xfrm>
          <a:prstGeom prst="ellipse">
            <a:avLst/>
          </a:prstGeom>
          <a:solidFill>
            <a:srgbClr val="12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6355080" y="5349240"/>
            <a:ext cx="34747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850" b="1">
                <a:solidFill>
                  <a:srgbClr val="ffffff"/>
                </a:solidFill>
                <a:latin typeface="맑은 고딕"/>
              </a:rPr>
              <a:t>15</a:t>
            </a:r>
            <a:endParaRPr sz="85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812280" y="5303520"/>
            <a:ext cx="44805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50" b="0">
                <a:solidFill>
                  <a:srgbClr val="1f2d3a"/>
                </a:solidFill>
                <a:latin typeface="맑은 고딕"/>
              </a:rPr>
              <a:t>최종 검수·시연·발표</a:t>
            </a:r>
            <a:endParaRPr sz="11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단계별 주요 산출물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각 단계의 완료 조건을 문서·코드·검증 결과로 명확화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0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9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530352" y="1444752"/>
            <a:ext cx="2093976" cy="44988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Rounded Rectangle 6"/>
          <p:cNvSpPr/>
          <p:nvPr/>
        </p:nvSpPr>
        <p:spPr>
          <a:xfrm>
            <a:off x="530352" y="1444752"/>
            <a:ext cx="2093976" cy="749808"/>
          </a:xfrm>
          <a:prstGeom prst="roundRect">
            <a:avLst>
              <a:gd name="adj" fmla="val 16667"/>
            </a:avLst>
          </a:prstGeom>
          <a:solidFill>
            <a:srgbClr val="196bb5"/>
          </a:solidFill>
          <a:ln w="12700">
            <a:solidFill>
              <a:srgbClr val="19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21792" y="1618488"/>
            <a:ext cx="191109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분석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" y="1892807"/>
            <a:ext cx="1911095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00" b="0">
                <a:solidFill>
                  <a:srgbClr val="ffffff"/>
                </a:solidFill>
                <a:latin typeface="맑은 고딕"/>
              </a:rPr>
              <a:t>1–3주</a:t>
            </a:r>
            <a:endParaRPr sz="9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3232" y="2532888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96bb5"/>
                </a:solidFill>
                <a:latin typeface="맑은 고딕"/>
              </a:rPr>
              <a:t>●</a:t>
            </a:r>
            <a:endParaRPr sz="8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9264" y="2514600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2263f"/>
                </a:solidFill>
                <a:latin typeface="맑은 고딕"/>
              </a:rPr>
              <a:t>요구사항 정의서</a:t>
            </a:r>
            <a:endParaRPr sz="11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3246120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96bb5"/>
                </a:solidFill>
                <a:latin typeface="맑은 고딕"/>
              </a:rPr>
              <a:t>●</a:t>
            </a:r>
            <a:endParaRPr sz="8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3227832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RFP 요구사항 대응표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3959352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96bb5"/>
                </a:solidFill>
                <a:latin typeface="맑은 고딕"/>
              </a:rPr>
              <a:t>●</a:t>
            </a:r>
            <a:endParaRPr sz="8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9264" y="3941064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유스케이스·사용자 스토리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4672583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96bb5"/>
                </a:solidFill>
                <a:latin typeface="맑은 고딕"/>
              </a:rPr>
              <a:t>●</a:t>
            </a:r>
            <a:endParaRPr sz="8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9264" y="4654296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프로젝트 백로그/WBS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843784" y="1444752"/>
            <a:ext cx="2093976" cy="44988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2843784" y="1444752"/>
            <a:ext cx="2093976" cy="749808"/>
          </a:xfrm>
          <a:prstGeom prst="roundRect">
            <a:avLst>
              <a:gd name="adj" fmla="val 16667"/>
            </a:avLst>
          </a:prstGeom>
          <a:solidFill>
            <a:srgbClr val="1eb1be"/>
          </a:solidFill>
          <a:ln w="12700">
            <a:solidFill>
              <a:srgbClr val="1e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2935224" y="1618488"/>
            <a:ext cx="191109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설계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35224" y="1892807"/>
            <a:ext cx="1911095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00" b="0">
                <a:solidFill>
                  <a:srgbClr val="ffffff"/>
                </a:solidFill>
                <a:latin typeface="맑은 고딕"/>
              </a:rPr>
              <a:t>4–5주</a:t>
            </a:r>
            <a:endParaRPr sz="9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26664" y="2532888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eb1be"/>
                </a:solidFill>
                <a:latin typeface="맑은 고딕"/>
              </a:rPr>
              <a:t>●</a:t>
            </a:r>
            <a:endParaRPr sz="8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82696" y="2514600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2263f"/>
                </a:solidFill>
                <a:latin typeface="맑은 고딕"/>
              </a:rPr>
              <a:t>시스템 아키텍처</a:t>
            </a:r>
            <a:endParaRPr sz="11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026664" y="3246120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eb1be"/>
                </a:solidFill>
                <a:latin typeface="맑은 고딕"/>
              </a:rPr>
              <a:t>●</a:t>
            </a:r>
            <a:endParaRPr sz="8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282696" y="3227832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화면설계서·프로토타입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26664" y="3959352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eb1be"/>
                </a:solidFill>
                <a:latin typeface="맑은 고딕"/>
              </a:rPr>
              <a:t>●</a:t>
            </a:r>
            <a:endParaRPr sz="8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82696" y="3941064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ERD·DB 명세서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26664" y="4672583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eb1be"/>
                </a:solidFill>
                <a:latin typeface="맑은 고딕"/>
              </a:rPr>
              <a:t>●</a:t>
            </a:r>
            <a:endParaRPr sz="80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282696" y="4654296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API·검증 규칙 명세서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157216" y="1444752"/>
            <a:ext cx="2093976" cy="44988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1" name="Rounded Rectangle 30"/>
          <p:cNvSpPr/>
          <p:nvPr/>
        </p:nvSpPr>
        <p:spPr>
          <a:xfrm>
            <a:off x="5157216" y="1444752"/>
            <a:ext cx="2093976" cy="749808"/>
          </a:xfrm>
          <a:prstGeom prst="roundRect">
            <a:avLst>
              <a:gd name="adj" fmla="val 16667"/>
            </a:avLst>
          </a:prstGeom>
          <a:solidFill>
            <a:srgbClr val="299d70"/>
          </a:solidFill>
          <a:ln w="12700">
            <a:solidFill>
              <a:srgbClr val="299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5248655" y="1618488"/>
            <a:ext cx="191109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구현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48655" y="1892807"/>
            <a:ext cx="1911095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00" b="0">
                <a:solidFill>
                  <a:srgbClr val="ffffff"/>
                </a:solidFill>
                <a:latin typeface="맑은 고딕"/>
              </a:rPr>
              <a:t>6–11주</a:t>
            </a:r>
            <a:endParaRPr sz="9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40096" y="2532888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299d70"/>
                </a:solidFill>
                <a:latin typeface="맑은 고딕"/>
              </a:rPr>
              <a:t>●</a:t>
            </a:r>
            <a:endParaRPr sz="800" b="1">
              <a:solidFill>
                <a:srgbClr val="299d70"/>
              </a:solidFill>
              <a:latin typeface="맑은 고딕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596127" y="2514600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2263f"/>
                </a:solidFill>
                <a:latin typeface="맑은 고딕"/>
              </a:rPr>
              <a:t>프론트·백엔드 소스코드</a:t>
            </a:r>
            <a:endParaRPr sz="11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340096" y="3246120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299d70"/>
                </a:solidFill>
                <a:latin typeface="맑은 고딕"/>
              </a:rPr>
              <a:t>●</a:t>
            </a:r>
            <a:endParaRPr sz="800" b="1">
              <a:solidFill>
                <a:srgbClr val="299d70"/>
              </a:solidFill>
              <a:latin typeface="맑은 고딕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96127" y="3227832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DB 스키마/초기 데이터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340096" y="3959352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299d70"/>
                </a:solidFill>
                <a:latin typeface="맑은 고딕"/>
              </a:rPr>
              <a:t>●</a:t>
            </a:r>
            <a:endParaRPr sz="800" b="1">
              <a:solidFill>
                <a:srgbClr val="299d70"/>
              </a:solidFill>
              <a:latin typeface="맑은 고딕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596127" y="3941064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배포 설정·빌드 결과물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40096" y="4672583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299d70"/>
                </a:solidFill>
                <a:latin typeface="맑은 고딕"/>
              </a:rPr>
              <a:t>●</a:t>
            </a:r>
            <a:endParaRPr sz="800" b="1">
              <a:solidFill>
                <a:srgbClr val="299d70"/>
              </a:solidFill>
              <a:latin typeface="맑은 고딕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596127" y="4654296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주차별 시연·개발 기록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7470648" y="1444752"/>
            <a:ext cx="2093976" cy="44988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3" name="Rounded Rectangle 42"/>
          <p:cNvSpPr/>
          <p:nvPr/>
        </p:nvSpPr>
        <p:spPr>
          <a:xfrm>
            <a:off x="7470648" y="1444752"/>
            <a:ext cx="2093976" cy="749808"/>
          </a:xfrm>
          <a:prstGeom prst="roundRect">
            <a:avLst>
              <a:gd name="adj" fmla="val 16667"/>
            </a:avLst>
          </a:prstGeom>
          <a:solidFill>
            <a:srgbClr val="f19238"/>
          </a:solidFill>
          <a:ln w="12700">
            <a:solidFill>
              <a:srgbClr val="f19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7562088" y="1618488"/>
            <a:ext cx="191109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테스트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62088" y="1892807"/>
            <a:ext cx="1911095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00" b="0">
                <a:solidFill>
                  <a:srgbClr val="ffffff"/>
                </a:solidFill>
                <a:latin typeface="맑은 고딕"/>
              </a:rPr>
              <a:t>12–13주</a:t>
            </a:r>
            <a:endParaRPr sz="9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653527" y="2532888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f19238"/>
                </a:solidFill>
                <a:latin typeface="맑은 고딕"/>
              </a:rPr>
              <a:t>●</a:t>
            </a:r>
            <a:endParaRPr sz="800" b="1">
              <a:solidFill>
                <a:srgbClr val="f19238"/>
              </a:solidFill>
              <a:latin typeface="맑은 고딕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909560" y="2514600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2263f"/>
                </a:solidFill>
                <a:latin typeface="맑은 고딕"/>
              </a:rPr>
              <a:t>테스트 계획·케이스</a:t>
            </a:r>
            <a:endParaRPr sz="11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53527" y="3246120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f19238"/>
                </a:solidFill>
                <a:latin typeface="맑은 고딕"/>
              </a:rPr>
              <a:t>●</a:t>
            </a:r>
            <a:endParaRPr sz="800" b="1">
              <a:solidFill>
                <a:srgbClr val="f19238"/>
              </a:solidFill>
              <a:latin typeface="맑은 고딕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09560" y="3227832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단위·통합 테스트 결과서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653527" y="3959352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f19238"/>
                </a:solidFill>
                <a:latin typeface="맑은 고딕"/>
              </a:rPr>
              <a:t>●</a:t>
            </a:r>
            <a:endParaRPr sz="800" b="1">
              <a:solidFill>
                <a:srgbClr val="f19238"/>
              </a:solidFill>
              <a:latin typeface="맑은 고딕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909560" y="3941064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성능·보안 점검표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653527" y="4672583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f19238"/>
                </a:solidFill>
                <a:latin typeface="맑은 고딕"/>
              </a:rPr>
              <a:t>●</a:t>
            </a:r>
            <a:endParaRPr sz="800" b="1">
              <a:solidFill>
                <a:srgbClr val="f19238"/>
              </a:solidFill>
              <a:latin typeface="맑은 고딕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909560" y="4654296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결함 목록 및 조치내역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9784080" y="1444752"/>
            <a:ext cx="2093976" cy="44988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5" name="Rounded Rectangle 54"/>
          <p:cNvSpPr/>
          <p:nvPr/>
        </p:nvSpPr>
        <p:spPr>
          <a:xfrm>
            <a:off x="9784080" y="1444752"/>
            <a:ext cx="2093976" cy="749808"/>
          </a:xfrm>
          <a:prstGeom prst="roundRect">
            <a:avLst>
              <a:gd name="adj" fmla="val 16667"/>
            </a:avLst>
          </a:prstGeom>
          <a:solidFill>
            <a:srgbClr val="12263f"/>
          </a:solidFill>
          <a:ln w="12700"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9875519" y="1618488"/>
            <a:ext cx="1911095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600" b="1">
                <a:solidFill>
                  <a:srgbClr val="ffffff"/>
                </a:solidFill>
                <a:latin typeface="맑은 고딕"/>
              </a:rPr>
              <a:t>안정화</a:t>
            </a:r>
            <a:endParaRPr sz="16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875519" y="1892807"/>
            <a:ext cx="1911095" cy="155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900" b="0">
                <a:solidFill>
                  <a:srgbClr val="ffffff"/>
                </a:solidFill>
                <a:latin typeface="맑은 고딕"/>
              </a:rPr>
              <a:t>14–15주</a:t>
            </a:r>
            <a:endParaRPr sz="900" b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9966959" y="2532888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2263f"/>
                </a:solidFill>
                <a:latin typeface="맑은 고딕"/>
              </a:rPr>
              <a:t>●</a:t>
            </a:r>
            <a:endParaRPr sz="8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222992" y="2514600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1">
                <a:solidFill>
                  <a:srgbClr val="12263f"/>
                </a:solidFill>
                <a:latin typeface="맑은 고딕"/>
              </a:rPr>
              <a:t>최종 완료보고서</a:t>
            </a:r>
            <a:endParaRPr sz="11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966959" y="3246120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2263f"/>
                </a:solidFill>
                <a:latin typeface="맑은 고딕"/>
              </a:rPr>
              <a:t>●</a:t>
            </a:r>
            <a:endParaRPr sz="8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222992" y="3227832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사용자·운영자 매뉴얼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966959" y="3959352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2263f"/>
                </a:solidFill>
                <a:latin typeface="맑은 고딕"/>
              </a:rPr>
              <a:t>●</a:t>
            </a:r>
            <a:endParaRPr sz="8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0222992" y="3941064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설치·배포 가이드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9966959" y="4672583"/>
            <a:ext cx="2286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00" b="1">
                <a:solidFill>
                  <a:srgbClr val="12263f"/>
                </a:solidFill>
                <a:latin typeface="맑은 고딕"/>
              </a:rPr>
              <a:t>●</a:t>
            </a:r>
            <a:endParaRPr sz="8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0222992" y="4654296"/>
            <a:ext cx="1444752" cy="42062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100" b="0">
                <a:solidFill>
                  <a:srgbClr val="1f2d3a"/>
                </a:solidFill>
                <a:latin typeface="맑은 고딕"/>
              </a:rPr>
              <a:t>최종 발표자료·시연 영상</a:t>
            </a:r>
            <a:endParaRPr sz="110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품질·보안·테스트 전략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제안요청서의 테스트·보안·품질 요구를 수업 범위에 반영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10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58368" y="1508760"/>
            <a:ext cx="5239512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Rectangle 6"/>
          <p:cNvSpPr/>
          <p:nvPr/>
        </p:nvSpPr>
        <p:spPr>
          <a:xfrm>
            <a:off x="822959" y="1691639"/>
            <a:ext cx="118872" cy="1335024"/>
          </a:xfrm>
          <a:prstGeom prst="rect">
            <a:avLst/>
          </a:prstGeom>
          <a:solidFill>
            <a:srgbClr val="196bb5"/>
          </a:solidFill>
          <a:ln w="12700">
            <a:solidFill>
              <a:srgbClr val="19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161288" y="1728216"/>
            <a:ext cx="438912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50" b="1">
                <a:solidFill>
                  <a:srgbClr val="12263f"/>
                </a:solidFill>
                <a:latin typeface="맑은 고딕"/>
              </a:rPr>
              <a:t>기능 품질</a:t>
            </a:r>
            <a:endParaRPr sz="16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15568" y="2121408"/>
            <a:ext cx="4480560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요구사항별 테스트 케이스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검증 규칙 정상/경계/오류값 시험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주요 사용자 흐름 E2E 확인</a:t>
            </a:r>
            <a:endParaRPr lang="ko-KR" altLang="en-US"/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239512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6473951" y="1691639"/>
            <a:ext cx="118872" cy="1335024"/>
          </a:xfrm>
          <a:prstGeom prst="rect">
            <a:avLst/>
          </a:prstGeom>
          <a:solidFill>
            <a:srgbClr val="1eb1be"/>
          </a:solidFill>
          <a:ln w="12700">
            <a:solidFill>
              <a:srgbClr val="1eb1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6812279" y="1728216"/>
            <a:ext cx="438912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50" b="1">
                <a:solidFill>
                  <a:srgbClr val="12263f"/>
                </a:solidFill>
                <a:latin typeface="맑은 고딕"/>
              </a:rPr>
              <a:t>성능·신뢰성</a:t>
            </a:r>
            <a:endParaRPr sz="16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66559" y="2121408"/>
            <a:ext cx="4480560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동시 데이터 수신 부하 시험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대시보드 갱신 지연 측정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오류 발생·복구 시나리오 검증</a:t>
            </a:r>
            <a:endParaRPr lang="ko-KR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658368" y="3630168"/>
            <a:ext cx="5239512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Rectangle 14"/>
          <p:cNvSpPr/>
          <p:nvPr/>
        </p:nvSpPr>
        <p:spPr>
          <a:xfrm>
            <a:off x="822959" y="3813048"/>
            <a:ext cx="118872" cy="1335024"/>
          </a:xfrm>
          <a:prstGeom prst="rect">
            <a:avLst/>
          </a:prstGeom>
          <a:solidFill>
            <a:srgbClr val="dd4d49"/>
          </a:solidFill>
          <a:ln w="12700">
            <a:solidFill>
              <a:srgbClr val="dd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1161288" y="3849624"/>
            <a:ext cx="438912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50" b="1">
                <a:solidFill>
                  <a:srgbClr val="12263f"/>
                </a:solidFill>
                <a:latin typeface="맑은 고딕"/>
              </a:rPr>
              <a:t>보안</a:t>
            </a:r>
            <a:endParaRPr sz="16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15568" y="4242816"/>
            <a:ext cx="4480560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역할 기반 접근제어(RBAC)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입력값 검증·비밀번호 암호화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웹 취약점 기본 점검·로그 관리</a:t>
            </a:r>
            <a:endParaRPr lang="ko-KR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6309359" y="3630168"/>
            <a:ext cx="5239512" cy="173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Rectangle 18"/>
          <p:cNvSpPr/>
          <p:nvPr/>
        </p:nvSpPr>
        <p:spPr>
          <a:xfrm>
            <a:off x="6473951" y="3813048"/>
            <a:ext cx="118872" cy="1335024"/>
          </a:xfrm>
          <a:prstGeom prst="rect">
            <a:avLst/>
          </a:prstGeom>
          <a:solidFill>
            <a:srgbClr val="299d70"/>
          </a:solidFill>
          <a:ln w="12700">
            <a:solidFill>
              <a:srgbClr val="299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6812279" y="3849624"/>
            <a:ext cx="4389120" cy="2651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650" b="1">
                <a:solidFill>
                  <a:srgbClr val="12263f"/>
                </a:solidFill>
                <a:latin typeface="맑은 고딕"/>
              </a:rPr>
              <a:t>운영 안정성</a:t>
            </a:r>
            <a:endParaRPr sz="16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766559" y="4242816"/>
            <a:ext cx="4480560" cy="8961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예외 처리·장애 로그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백업/복구·배포 절차</a:t>
            </a:r>
            <a:endParaRPr lang="ko-KR" altLang="en-US"/>
          </a:p>
          <a:p>
            <a:pPr lvl="0">
              <a:lnSpc>
                <a:spcPct val="105000"/>
              </a:lnSpc>
              <a:spcAft>
                <a:spcPts val="300"/>
              </a:spcAft>
              <a:defRPr sz="1130">
                <a:solidFill>
                  <a:srgbClr val="1f2d3a"/>
                </a:solidFill>
                <a:latin typeface="맑은 고딕"/>
              </a:defRPr>
            </a:pPr>
            <a:r>
              <a:rPr lang="ko-KR" altLang="en-US"/>
              <a:t>•  사용자 피드백 반영·회귀 테스트</a:t>
            </a:r>
            <a:endParaRPr lang="ko-KR" altLang="en-US"/>
          </a:p>
        </p:txBody>
      </p:sp>
      <p:sp>
        <p:nvSpPr>
          <p:cNvPr id="22" name="Rounded Rectangle 21"/>
          <p:cNvSpPr/>
          <p:nvPr/>
        </p:nvSpPr>
        <p:spPr>
          <a:xfrm>
            <a:off x="658368" y="5760720"/>
            <a:ext cx="10890504" cy="393192"/>
          </a:xfrm>
          <a:prstGeom prst="roundRect">
            <a:avLst>
              <a:gd name="adj" fmla="val 16667"/>
            </a:avLst>
          </a:prstGeom>
          <a:solidFill>
            <a:srgbClr val="e1f2f9"/>
          </a:solidFill>
          <a:ln w="12700">
            <a:solidFill>
              <a:srgbClr val="e1f2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896112" y="5852160"/>
            <a:ext cx="103784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150" b="1">
                <a:solidFill>
                  <a:srgbClr val="12263f"/>
                </a:solidFill>
                <a:latin typeface="맑은 고딕"/>
              </a:rPr>
              <a:t>완료 기준: 핵심 기능 테스트 100% 통과 · 치명/주요 결함 0건 · 매뉴얼 기반 재설치 및 시연 성공</a:t>
            </a:r>
            <a:endParaRPr sz="11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108813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2500" b="1">
                <a:solidFill>
                  <a:srgbClr val="12263f"/>
                </a:solidFill>
                <a:latin typeface="맑은 고딕"/>
              </a:rPr>
              <a:t>기대효과</a:t>
            </a:r>
            <a:endParaRPr sz="250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0">
                <a:solidFill>
                  <a:srgbClr val="5b6a79"/>
                </a:solidFill>
                <a:latin typeface="맑은 고딕"/>
              </a:rPr>
              <a:t>서비스 품질·운영 효율·교육 성과를 동시에 확보</a:t>
            </a:r>
            <a:endParaRPr sz="1050" b="0">
              <a:solidFill>
                <a:srgbClr val="5b6a79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109960" y="347472"/>
            <a:ext cx="502920" cy="2788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r">
              <a:defRPr/>
            </a:pPr>
            <a:r>
              <a:rPr sz="1100" b="1">
                <a:solidFill>
                  <a:srgbClr val="196bb5"/>
                </a:solidFill>
                <a:latin typeface="맑은 고딕"/>
              </a:rPr>
              <a:t>1</a:t>
            </a:r>
            <a:r>
              <a:rPr lang="en-US" altLang="ko-KR" sz="1100" b="1">
                <a:solidFill>
                  <a:srgbClr val="196bb5"/>
                </a:solidFill>
                <a:latin typeface="맑은 고딕"/>
              </a:rPr>
              <a:t>1</a:t>
            </a:r>
            <a:endParaRPr lang="en-US" altLang="ko-KR" sz="110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1018520" cy="27432"/>
          </a:xfrm>
          <a:prstGeom prst="rect">
            <a:avLst/>
          </a:prstGeom>
          <a:solidFill>
            <a:srgbClr val="e1e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6" name="Rounded Rectangle 5"/>
          <p:cNvSpPr/>
          <p:nvPr/>
        </p:nvSpPr>
        <p:spPr>
          <a:xfrm>
            <a:off x="694944" y="1389888"/>
            <a:ext cx="10808208" cy="7223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47548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96bb5"/>
                </a:solidFill>
                <a:latin typeface="맑은 고딕"/>
              </a:rPr>
              <a:t>01</a:t>
            </a:r>
            <a:endParaRPr sz="1050" b="1">
              <a:solidFill>
                <a:srgbClr val="196bb5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54480" y="1527048"/>
            <a:ext cx="19202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450" b="1">
                <a:solidFill>
                  <a:srgbClr val="12263f"/>
                </a:solidFill>
                <a:latin typeface="맑은 고딕"/>
              </a:rPr>
              <a:t>데이터 신뢰성</a:t>
            </a:r>
            <a:endParaRPr sz="14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03320" y="1508760"/>
            <a:ext cx="73883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50" b="0">
                <a:solidFill>
                  <a:srgbClr val="1f2d3a"/>
                </a:solidFill>
                <a:latin typeface="맑은 고딕"/>
              </a:rPr>
              <a:t>오류 조기 발견으로 실제 신호와 제공 정보의 불일치 위험 감소</a:t>
            </a:r>
            <a:endParaRPr sz="12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4944" y="2313432"/>
            <a:ext cx="10808208" cy="722376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14400" y="2496312"/>
            <a:ext cx="47548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eb1be"/>
                </a:solidFill>
                <a:latin typeface="맑은 고딕"/>
              </a:rPr>
              <a:t>02</a:t>
            </a:r>
            <a:endParaRPr sz="1050" b="1">
              <a:solidFill>
                <a:srgbClr val="1eb1be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54480" y="2450592"/>
            <a:ext cx="19202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450" b="1">
                <a:solidFill>
                  <a:srgbClr val="12263f"/>
                </a:solidFill>
                <a:latin typeface="맑은 고딕"/>
              </a:rPr>
              <a:t>운영 대응력</a:t>
            </a:r>
            <a:endParaRPr sz="14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03320" y="2432304"/>
            <a:ext cx="73883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50" b="0">
                <a:solidFill>
                  <a:srgbClr val="1f2d3a"/>
                </a:solidFill>
                <a:latin typeface="맑은 고딕"/>
              </a:rPr>
              <a:t>실시간 모니터링과 이슈 이력으로 원인 파악·조치 시간 단축</a:t>
            </a:r>
            <a:endParaRPr sz="12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4944" y="3236976"/>
            <a:ext cx="10808208" cy="7223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914400" y="3419856"/>
            <a:ext cx="47548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299d70"/>
                </a:solidFill>
                <a:latin typeface="맑은 고딕"/>
              </a:rPr>
              <a:t>03</a:t>
            </a:r>
            <a:endParaRPr sz="1050" b="1">
              <a:solidFill>
                <a:srgbClr val="299d70"/>
              </a:solidFill>
              <a:latin typeface="맑은 고딕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554480" y="3374136"/>
            <a:ext cx="19202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450" b="1">
                <a:solidFill>
                  <a:srgbClr val="12263f"/>
                </a:solidFill>
                <a:latin typeface="맑은 고딕"/>
              </a:rPr>
              <a:t>의사결정 지원</a:t>
            </a:r>
            <a:endParaRPr sz="14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703320" y="3355848"/>
            <a:ext cx="73883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50" b="0">
                <a:solidFill>
                  <a:srgbClr val="1f2d3a"/>
                </a:solidFill>
                <a:latin typeface="맑은 고딕"/>
              </a:rPr>
              <a:t>오류 유형·교차로·기간별 통계로 반복 문제와 개선 우선순위 파악</a:t>
            </a:r>
            <a:endParaRPr sz="12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94944" y="4160520"/>
            <a:ext cx="10808208" cy="722376"/>
          </a:xfrm>
          <a:prstGeom prst="roundRect">
            <a:avLst>
              <a:gd name="adj" fmla="val 16667"/>
            </a:avLst>
          </a:prstGeom>
          <a:solidFill>
            <a:srgbClr val="f5f8fb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7548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f19238"/>
                </a:solidFill>
                <a:latin typeface="맑은 고딕"/>
              </a:rPr>
              <a:t>04</a:t>
            </a:r>
            <a:endParaRPr sz="1050" b="1">
              <a:solidFill>
                <a:srgbClr val="f19238"/>
              </a:solidFill>
              <a:latin typeface="맑은 고딕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554480" y="4297680"/>
            <a:ext cx="19202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450" b="1">
                <a:solidFill>
                  <a:srgbClr val="12263f"/>
                </a:solidFill>
                <a:latin typeface="맑은 고딕"/>
              </a:rPr>
              <a:t>서비스 품질</a:t>
            </a:r>
            <a:endParaRPr sz="14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03320" y="4279392"/>
            <a:ext cx="73883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50" b="0">
                <a:solidFill>
                  <a:srgbClr val="1f2d3a"/>
                </a:solidFill>
                <a:latin typeface="맑은 고딕"/>
              </a:rPr>
              <a:t>정확한 신호정보 제공 기반을 마련해 운전자 혼란과 민원 감소에 기여</a:t>
            </a:r>
            <a:endParaRPr sz="12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94944" y="5084064"/>
            <a:ext cx="10808208" cy="7223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1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914400" y="5266944"/>
            <a:ext cx="475488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050" b="1">
                <a:solidFill>
                  <a:srgbClr val="12263f"/>
                </a:solidFill>
                <a:latin typeface="맑은 고딕"/>
              </a:rPr>
              <a:t>05</a:t>
            </a:r>
            <a:endParaRPr sz="10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554480" y="5221224"/>
            <a:ext cx="1920240" cy="2468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1450" b="1">
                <a:solidFill>
                  <a:srgbClr val="12263f"/>
                </a:solidFill>
                <a:latin typeface="맑은 고딕"/>
              </a:rPr>
              <a:t>실무 역량</a:t>
            </a:r>
            <a:endParaRPr sz="1450" b="1">
              <a:solidFill>
                <a:srgbClr val="12263f"/>
              </a:solidFill>
              <a:latin typeface="맑은 고딕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03320" y="5202936"/>
            <a:ext cx="7388352" cy="38404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lvl="0" algn="l">
              <a:defRPr/>
            </a:pPr>
            <a:r>
              <a:rPr sz="1250" b="0">
                <a:solidFill>
                  <a:srgbClr val="1f2d3a"/>
                </a:solidFill>
                <a:latin typeface="맑은 고딕"/>
              </a:rPr>
              <a:t>공공 RFP 분석부터 설계·구현·테스트·안정화까지 전 과정 경험</a:t>
            </a:r>
            <a:endParaRPr sz="1250" b="0">
              <a:solidFill>
                <a:srgbClr val="1f2d3a"/>
              </a:solidFill>
              <a:latin typeface="맑은 고딕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94944" y="6144768"/>
            <a:ext cx="10808208" cy="256032"/>
          </a:xfrm>
          <a:prstGeom prst="roundRect">
            <a:avLst>
              <a:gd name="adj" fmla="val 16667"/>
            </a:avLst>
          </a:prstGeom>
          <a:solidFill>
            <a:srgbClr val="12263f"/>
          </a:solidFill>
          <a:ln w="12700">
            <a:solidFill>
              <a:srgbClr val="122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804672" y="6190488"/>
            <a:ext cx="10588752" cy="12801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ctr">
              <a:defRPr/>
            </a:pPr>
            <a:r>
              <a:rPr sz="1000" b="1">
                <a:solidFill>
                  <a:srgbClr val="ffffff"/>
                </a:solidFill>
                <a:latin typeface="맑은 고딕"/>
              </a:rPr>
              <a:t>신뢰할 수 있는 신호 데이터가 안전한 교통정보 서비스의 출발점입니다.</a:t>
            </a:r>
            <a:endParaRPr sz="1000" b="1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" y="6565392"/>
            <a:ext cx="64008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lvl="0" algn="l">
              <a:defRPr/>
            </a:pPr>
            <a:r>
              <a:rPr sz="850" b="0">
                <a:solidFill>
                  <a:srgbClr val="5b6a79"/>
                </a:solidFill>
                <a:latin typeface="맑은 고딕"/>
              </a:rPr>
              <a:t>웹 프레임워크 프로젝트 · 1주차 팀별 계획서</a:t>
            </a:r>
            <a:endParaRPr sz="850" b="0">
              <a:solidFill>
                <a:srgbClr val="5b6a79"/>
              </a:solidFill>
              <a:latin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812</ep:Words>
  <ep:PresentationFormat>On-screen Show (4:3)</ep:PresentationFormat>
  <ep:Paragraphs>267</ep:Paragraphs>
  <ep:Slides>11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ep:HeadingPairs>
  <ep:TitlesOfParts>
    <vt:vector size="12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whcks</cp:lastModifiedBy>
  <dcterms:modified xsi:type="dcterms:W3CDTF">2026-09-06T19:17:48.999</dcterms:modified>
  <cp:revision>38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